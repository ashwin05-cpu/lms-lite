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4"/>
  </p:notesMasterIdLst>
  <p:sldIdLst>
    <p:sldId id="256" r:id="rId4"/>
    <p:sldId id="257" r:id="rId5"/>
    <p:sldId id="258" r:id="rId6"/>
    <p:sldId id="273" r:id="rId7"/>
    <p:sldId id="260" r:id="rId8"/>
    <p:sldId id="261" r:id="rId9"/>
    <p:sldId id="278" r:id="rId10"/>
    <p:sldId id="280" r:id="rId11"/>
    <p:sldId id="275" r:id="rId12"/>
    <p:sldId id="27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9972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-302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tags" Target="../tags/tag3.xml"/><Relationship Id="rId4" Type="http://schemas.openxmlformats.org/officeDocument/2006/relationships/image" Target="../media/image1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image" Target="../media/image4.png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image" Target="../media/image3.png"/><Relationship Id="rId2" Type="http://schemas.openxmlformats.org/officeDocument/2006/relationships/tags" Target="../tags/tag15.xml"/><Relationship Id="rId13" Type="http://schemas.openxmlformats.org/officeDocument/2006/relationships/tags" Target="../tags/tag23.xml"/><Relationship Id="rId12" Type="http://schemas.openxmlformats.org/officeDocument/2006/relationships/tags" Target="../tags/tag22.xml"/><Relationship Id="rId11" Type="http://schemas.openxmlformats.org/officeDocument/2006/relationships/tags" Target="../tags/tag21.xml"/><Relationship Id="rId10" Type="http://schemas.openxmlformats.org/officeDocument/2006/relationships/tags" Target="../tags/tag20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27.xml"/><Relationship Id="rId7" Type="http://schemas.openxmlformats.org/officeDocument/2006/relationships/image" Target="../media/image8.png"/><Relationship Id="rId6" Type="http://schemas.openxmlformats.org/officeDocument/2006/relationships/tags" Target="../tags/tag26.xml"/><Relationship Id="rId5" Type="http://schemas.microsoft.com/office/2007/relationships/hdphoto" Target="../media/image7.wdp"/><Relationship Id="rId4" Type="http://schemas.openxmlformats.org/officeDocument/2006/relationships/image" Target="../media/image6.png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image" Target="../media/image2.png"/><Relationship Id="rId5" Type="http://schemas.openxmlformats.org/officeDocument/2006/relationships/tags" Target="../tags/tag64.xml"/><Relationship Id="rId4" Type="http://schemas.openxmlformats.org/officeDocument/2006/relationships/image" Target="../media/image1.png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1" Type="http://schemas.openxmlformats.org/officeDocument/2006/relationships/tags" Target="../tags/tag69.xml"/><Relationship Id="rId10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73" y="0"/>
            <a:ext cx="12169827" cy="6858000"/>
          </a:xfrm>
          <a:prstGeom prst="rect">
            <a:avLst/>
          </a:prstGeom>
        </p:spPr>
      </p:pic>
      <p:pic>
        <p:nvPicPr>
          <p:cNvPr id="10" name="图片 9" descr="5858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965055" y="606425"/>
            <a:ext cx="1087755" cy="656590"/>
          </a:xfrm>
          <a:prstGeom prst="rect">
            <a:avLst/>
          </a:prstGeom>
        </p:spPr>
      </p:pic>
      <p:sp>
        <p:nvSpPr>
          <p:cNvPr id="9" name="署名"/>
          <p:cNvSpPr>
            <a:spLocks noGrp="1"/>
          </p:cNvSpPr>
          <p:nvPr>
            <p:ph type="body" idx="3" hasCustomPrompt="1"/>
            <p:custDataLst>
              <p:tags r:id="rId7"/>
            </p:custDataLst>
          </p:nvPr>
        </p:nvSpPr>
        <p:spPr>
          <a:xfrm>
            <a:off x="8994711" y="4309110"/>
            <a:ext cx="2158430" cy="511706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2">
                  <a:alpha val="5000"/>
                </a:schemeClr>
              </a:gs>
              <a:gs pos="100000">
                <a:schemeClr val="accent2">
                  <a:alpha val="1500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0" i="0" u="none" strike="noStrike" kern="1200" cap="none" spc="0" normalizeH="0" baseline="0" noProof="1" dirty="0">
                <a:solidFill>
                  <a:schemeClr val="accent1">
                    <a:lumMod val="75000"/>
                  </a:schemeClr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8" name="副标题"/>
          <p:cNvSpPr txBox="1">
            <a:spLocks noGrp="1"/>
          </p:cNvSpPr>
          <p:nvPr>
            <p:ph type="body" idx="2" hasCustomPrompt="1"/>
            <p:custDataLst>
              <p:tags r:id="rId8"/>
            </p:custDataLst>
          </p:nvPr>
        </p:nvSpPr>
        <p:spPr>
          <a:xfrm>
            <a:off x="5984875" y="3815715"/>
            <a:ext cx="5229860" cy="429260"/>
          </a:xfrm>
          <a:prstGeom prst="rect">
            <a:avLst/>
          </a:prstGeom>
          <a:noFill/>
        </p:spPr>
        <p:txBody>
          <a:bodyPr wrap="square" lIns="0" tIns="0" rIns="71755" bIns="0" rtlCol="0" anchor="t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sz="1400" b="0" i="0" u="none" strike="noStrike" kern="1200" cap="none" spc="0" normalizeH="0" baseline="0" noProof="1" dirty="0" err="1">
                <a:solidFill>
                  <a:schemeClr val="accent1">
                    <a:lumMod val="75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7" name="标题" descr="7b0a20202020227461726765744d6f64756c65223a202270726f636573734f6e6c696e65466f6e7473220a7d0a"/>
          <p:cNvSpPr txBox="1">
            <a:spLocks noGrp="1"/>
          </p:cNvSpPr>
          <p:nvPr>
            <p:ph type="title" idx="1" hasCustomPrompt="1"/>
            <p:custDataLst>
              <p:tags r:id="rId9"/>
            </p:custDataLst>
          </p:nvPr>
        </p:nvSpPr>
        <p:spPr>
          <a:xfrm>
            <a:off x="4284980" y="984885"/>
            <a:ext cx="6929755" cy="283083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0" i="0" u="none" strike="noStrike" kern="1200" cap="none" spc="0" normalizeH="0" baseline="0" noProof="1" dirty="0">
                <a:solidFill>
                  <a:schemeClr val="dk1">
                    <a:lumMod val="100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lang="en-US" dirty="0">
                <a:latin typeface="+mj-lt"/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253A3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5"/>
          <a:stretch>
            <a:fillRect/>
          </a:stretch>
        </p:blipFill>
        <p:spPr>
          <a:xfrm>
            <a:off x="1" y="0"/>
            <a:ext cx="12191999" cy="6858000"/>
          </a:xfrm>
          <a:custGeom>
            <a:avLst/>
            <a:gdLst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0 w 1219199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6858000"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4" name="矩形 13"/>
          <p:cNvSpPr/>
          <p:nvPr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图片 35" descr="36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0876915" y="1054100"/>
            <a:ext cx="642620" cy="335915"/>
          </a:xfrm>
          <a:prstGeom prst="rect">
            <a:avLst/>
          </a:prstGeom>
        </p:spPr>
      </p:pic>
      <p:pic>
        <p:nvPicPr>
          <p:cNvPr id="37" name="图片 36" descr="36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190230" y="3277235"/>
            <a:ext cx="448945" cy="234950"/>
          </a:xfrm>
          <a:prstGeom prst="rect">
            <a:avLst/>
          </a:prstGeom>
        </p:spPr>
      </p:pic>
      <p:pic>
        <p:nvPicPr>
          <p:cNvPr id="9" name="图片 8" descr="gg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624185" y="4663440"/>
            <a:ext cx="819150" cy="1224915"/>
          </a:xfrm>
          <a:prstGeom prst="rect">
            <a:avLst/>
          </a:prstGeom>
        </p:spPr>
      </p:pic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10"/>
            </p:custDataLst>
          </p:nvPr>
        </p:nvSpPr>
        <p:spPr>
          <a:xfrm>
            <a:off x="788669" y="835660"/>
            <a:ext cx="7602039" cy="11988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600" b="0" i="0" u="none" strike="noStrike" kern="1200" cap="none" spc="0" normalizeH="0" baseline="0" noProof="1" dirty="0">
                <a:solidFill>
                  <a:schemeClr val="dk1">
                    <a:lumMod val="100000"/>
                  </a:schemeClr>
                </a:solidFill>
                <a:effectLst/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+mj-lt"/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75000"/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7000"/>
                    </a14:imgEffect>
                    <a14:imgEffect>
                      <a14:saturation sat="16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" y="0"/>
            <a:ext cx="12182475" cy="6858000"/>
          </a:xfrm>
          <a:prstGeom prst="rect">
            <a:avLst/>
          </a:prstGeom>
        </p:spPr>
      </p:pic>
      <p:pic>
        <p:nvPicPr>
          <p:cNvPr id="9" name="图片 8" descr="矢量智能对象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309485" y="2189480"/>
            <a:ext cx="780415" cy="897255"/>
          </a:xfrm>
          <a:prstGeom prst="rect">
            <a:avLst/>
          </a:prstGeom>
        </p:spPr>
      </p:pic>
      <p:pic>
        <p:nvPicPr>
          <p:cNvPr id="10" name="图片 9" descr="363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164320" y="1170305"/>
            <a:ext cx="642620" cy="335915"/>
          </a:xfrm>
          <a:prstGeom prst="rect">
            <a:avLst/>
          </a:prstGeom>
        </p:spPr>
      </p:pic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0"/>
            </p:custDataLst>
          </p:nvPr>
        </p:nvSpPr>
        <p:spPr>
          <a:xfrm>
            <a:off x="702309" y="2189480"/>
            <a:ext cx="6804480" cy="1948815"/>
          </a:xfrm>
          <a:prstGeom prst="rect">
            <a:avLst/>
          </a:prstGeom>
          <a:noFill/>
        </p:spPr>
        <p:txBody>
          <a:bodyPr wrap="square" lIns="91440" tIns="0" rIns="91440" bIns="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0" i="0" u="none" strike="noStrike" kern="1200" cap="none" spc="0" normalizeH="0" baseline="0" noProof="1" dirty="0">
                <a:solidFill>
                  <a:schemeClr val="dk1">
                    <a:lumMod val="100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baseline="0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6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 baseline="0">
                <a:solidFill>
                  <a:srgbClr val="253A3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7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 baseline="0">
                <a:solidFill>
                  <a:srgbClr val="253A3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95642" y="360000"/>
            <a:ext cx="10800397" cy="864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 u="none" strike="noStrike" kern="1200" cap="none" spc="0" normalizeH="0">
                <a:solidFill>
                  <a:srgbClr val="253A3F"/>
                </a:solidFill>
                <a:uFillTx/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7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 u="none" strike="noStrike" kern="1200" cap="none" spc="0" normalizeH="0">
                <a:solidFill>
                  <a:srgbClr val="253A3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 u="none" strike="noStrike" kern="1200" cap="none" spc="0" normalizeH="0">
                <a:solidFill>
                  <a:srgbClr val="253A3F"/>
                </a:solidFill>
                <a:uFillTx/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9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 u="none" strike="noStrike" kern="1200" cap="none" spc="0" normalizeH="0">
                <a:solidFill>
                  <a:srgbClr val="253A3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5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253A3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95642" y="360000"/>
            <a:ext cx="10799087" cy="864000"/>
          </a:xfrm>
        </p:spPr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 u="none" strike="noStrike" kern="1200" cap="none" spc="0" normalizeH="0">
                <a:solidFill>
                  <a:srgbClr val="253A3F"/>
                </a:solidFill>
                <a:uFillTx/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5124" cy="6858000"/>
          </a:xfrm>
          <a:prstGeom prst="rect">
            <a:avLst/>
          </a:prstGeom>
        </p:spPr>
      </p:pic>
      <p:pic>
        <p:nvPicPr>
          <p:cNvPr id="9" name="图片 8" descr="5858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965055" y="606425"/>
            <a:ext cx="1087755" cy="656590"/>
          </a:xfrm>
          <a:prstGeom prst="rect">
            <a:avLst/>
          </a:prstGeom>
        </p:spPr>
      </p:pic>
      <p:sp>
        <p:nvSpPr>
          <p:cNvPr id="8" name="署名"/>
          <p:cNvSpPr>
            <a:spLocks noGrp="1"/>
          </p:cNvSpPr>
          <p:nvPr>
            <p:ph type="body" idx="2" hasCustomPrompt="1"/>
            <p:custDataLst>
              <p:tags r:id="rId7"/>
            </p:custDataLst>
          </p:nvPr>
        </p:nvSpPr>
        <p:spPr>
          <a:xfrm>
            <a:off x="8976049" y="4321810"/>
            <a:ext cx="2177091" cy="486566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2">
                  <a:alpha val="5000"/>
                </a:schemeClr>
              </a:gs>
              <a:gs pos="100000">
                <a:schemeClr val="accent2">
                  <a:alpha val="1500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0" i="0" u="none" strike="noStrike" kern="1200" cap="none" spc="0" normalizeH="0" baseline="0" noProof="1">
                <a:solidFill>
                  <a:schemeClr val="accent1">
                    <a:lumMod val="75000"/>
                  </a:schemeClr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8"/>
            </p:custDataLst>
          </p:nvPr>
        </p:nvSpPr>
        <p:spPr>
          <a:xfrm>
            <a:off x="5059680" y="2042795"/>
            <a:ext cx="6155055" cy="209359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0" i="0" u="none" strike="noStrike" kern="1200" cap="none" spc="0" normalizeH="0" baseline="0" noProof="1" dirty="0">
                <a:solidFill>
                  <a:schemeClr val="dk1">
                    <a:lumMod val="100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2" Type="http://schemas.openxmlformats.org/officeDocument/2006/relationships/theme" Target="../theme/theme2.xml"/><Relationship Id="rId21" Type="http://schemas.openxmlformats.org/officeDocument/2006/relationships/tags" Target="../tags/tag78.xml"/><Relationship Id="rId20" Type="http://schemas.openxmlformats.org/officeDocument/2006/relationships/tags" Target="../tags/tag77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76.xml"/><Relationship Id="rId18" Type="http://schemas.openxmlformats.org/officeDocument/2006/relationships/tags" Target="../tags/tag75.xml"/><Relationship Id="rId17" Type="http://schemas.openxmlformats.org/officeDocument/2006/relationships/tags" Target="../tags/tag74.xml"/><Relationship Id="rId16" Type="http://schemas.openxmlformats.org/officeDocument/2006/relationships/tags" Target="../tags/tag73.xml"/><Relationship Id="rId15" Type="http://schemas.openxmlformats.org/officeDocument/2006/relationships/tags" Target="../tags/tag72.xml"/><Relationship Id="rId14" Type="http://schemas.openxmlformats.org/officeDocument/2006/relationships/image" Target="../media/image9.png"/><Relationship Id="rId13" Type="http://schemas.openxmlformats.org/officeDocument/2006/relationships/tags" Target="../tags/tag71.xml"/><Relationship Id="rId12" Type="http://schemas.openxmlformats.org/officeDocument/2006/relationships/tags" Target="../tags/tag70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8000"/>
              <a:lumOff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alphaModFix amt="47000"/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2950" cy="6858000"/>
          </a:xfrm>
          <a:prstGeom prst="rect">
            <a:avLst/>
          </a:prstGeom>
        </p:spPr>
      </p:pic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7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"/>
            <p:custDataLst>
              <p:tags r:id="rId1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" name="KSO_TEMPLATE" hidden="1"/>
          <p:cNvSpPr/>
          <p:nvPr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1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en-US" sz="3200" b="0" i="0" u="none" strike="noStrike" kern="1200" cap="none" spc="0" normalizeH="0" baseline="0" dirty="0" smtClean="0">
          <a:solidFill>
            <a:srgbClr val="253A3F"/>
          </a:solidFill>
          <a:uFillTx/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0" normalizeH="0" baseline="0">
          <a:solidFill>
            <a:srgbClr val="253A3F"/>
          </a:solidFill>
          <a:uFillTx/>
          <a:latin typeface="Arial" panose="020B0604020202020204" pitchFamily="34" charset="0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rgbClr val="253A3F"/>
          </a:solidFill>
          <a:uFillTx/>
          <a:latin typeface="+mn-lt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rgbClr val="253A3F"/>
          </a:solidFill>
          <a:uFillTx/>
          <a:latin typeface="+mn-lt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rgbClr val="253A3F"/>
          </a:solidFill>
          <a:uFillTx/>
          <a:latin typeface="+mn-lt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rgbClr val="253A3F"/>
          </a:solidFill>
          <a:uFillTx/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91.xml"/><Relationship Id="rId2" Type="http://schemas.openxmlformats.org/officeDocument/2006/relationships/image" Target="../media/image10.png"/><Relationship Id="rId1" Type="http://schemas.openxmlformats.org/officeDocument/2006/relationships/tags" Target="../tags/tag90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9.xml"/><Relationship Id="rId5" Type="http://schemas.openxmlformats.org/officeDocument/2006/relationships/tags" Target="../tags/tag98.xml"/><Relationship Id="rId4" Type="http://schemas.openxmlformats.org/officeDocument/2006/relationships/image" Target="../media/image11.png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2.png"/><Relationship Id="rId1" Type="http://schemas.openxmlformats.org/officeDocument/2006/relationships/tags" Target="../tags/tag9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3.png"/><Relationship Id="rId1" Type="http://schemas.openxmlformats.org/officeDocument/2006/relationships/tags" Target="../tags/tag100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04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7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559943" y="5171093"/>
            <a:ext cx="9078628" cy="8606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defRPr kumimoji="0" lang="en-US" sz="2200" b="1" i="0" u="none" strike="noStrike" kern="1200" cap="none" spc="0" normalizeH="0" baseline="0" noProof="1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</a:defRPr>
            </a:lvl1pPr>
            <a:lvl2pPr marL="457200" lvl="1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2pPr>
            <a:lvl3pPr marL="91440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lvl="3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lvl="4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endParaRPr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7" name="文本占位符 7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>
          <a:prstGeom prst="rect">
            <a:avLst/>
          </a:prstGeom>
          <a:noFill/>
        </p:spPr>
        <p:txBody>
          <a:bodyPr>
            <a:normAutofit/>
          </a:bodyPr>
          <a:p>
            <a:r>
              <a:rPr lang="en-US">
                <a:ea typeface="+mn-ea"/>
              </a:rPr>
              <a:t>BY ASHWIN KRISHNA V</a:t>
            </a:r>
            <a:endParaRPr lang="en-US">
              <a:ea typeface="+mn-ea"/>
            </a:endParaRPr>
          </a:p>
          <a:p>
            <a:endParaRPr lang="en-US">
              <a:ea typeface="+mn-ea"/>
            </a:endParaRPr>
          </a:p>
        </p:txBody>
      </p:sp>
      <p:sp>
        <p:nvSpPr>
          <p:cNvPr id="18" name="标题 3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>
          <a:xfrm>
            <a:off x="3258820" y="984885"/>
            <a:ext cx="7955915" cy="2830830"/>
          </a:xfrm>
        </p:spPr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sz="5400"/>
              <a:t>LEARNING MANAGEMENT SYSTEM</a:t>
            </a:r>
            <a:endParaRPr sz="5400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52891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baseline="0"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cs typeface="+mn-ea"/>
                <a:sym typeface="+mn-ea"/>
              </a:rPr>
              <a:t>PROBLEM STATEMENT</a:t>
            </a:r>
            <a:endParaRPr>
              <a:cs typeface="+mn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2351405" y="2270124"/>
            <a:ext cx="10800000" cy="4873625"/>
          </a:xfrm>
        </p:spPr>
        <p:txBody>
          <a:bodyPr/>
          <a:p>
            <a:pPr marL="0" indent="0">
              <a:buNone/>
            </a:pPr>
            <a:r>
              <a:rPr lang="en-US" sz="100">
                <a:ea typeface="+mn-ea"/>
              </a:rPr>
              <a:t>单击此处编辑母版文本样式</a:t>
            </a:r>
            <a:endParaRPr lang="en-US" sz="100">
              <a:ea typeface="+mn-ea"/>
            </a:endParaRPr>
          </a:p>
          <a:p>
            <a:pPr marL="0" indent="0">
              <a:buNone/>
            </a:pPr>
            <a:r>
              <a:rPr lang="en-US" sz="100">
                <a:ea typeface="+mn-ea"/>
              </a:rPr>
              <a:t>二级</a:t>
            </a:r>
            <a:endParaRPr lang="en-US" sz="100">
              <a:ea typeface="+mn-ea"/>
            </a:endParaRPr>
          </a:p>
          <a:p>
            <a:pPr marL="0" indent="0">
              <a:buNone/>
            </a:pPr>
            <a:r>
              <a:rPr lang="en-US" sz="100">
                <a:ea typeface="+mn-ea"/>
              </a:rPr>
              <a:t>三级</a:t>
            </a:r>
            <a:endParaRPr lang="en-US" sz="100">
              <a:ea typeface="+mn-ea"/>
            </a:endParaRPr>
          </a:p>
          <a:p>
            <a:pPr marL="0" indent="0">
              <a:buNone/>
            </a:pPr>
            <a:r>
              <a:rPr lang="en-US" sz="100">
                <a:ea typeface="+mn-ea"/>
              </a:rPr>
              <a:t>四级</a:t>
            </a:r>
            <a:endParaRPr lang="en-US" sz="100">
              <a:ea typeface="+mn-ea"/>
            </a:endParaRPr>
          </a:p>
          <a:p>
            <a:pPr marL="0" indent="0">
              <a:buNone/>
            </a:pPr>
            <a:r>
              <a:rPr lang="en-US" sz="100">
                <a:ea typeface="+mn-ea"/>
              </a:rPr>
              <a:t>五级</a:t>
            </a:r>
            <a:endParaRPr lang="en-US" sz="100">
              <a:ea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17220" y="1567815"/>
            <a:ext cx="8086090" cy="4095750"/>
          </a:xfrm>
          <a:prstGeom prst="rect">
            <a:avLst/>
          </a:prstGeom>
        </p:spPr>
        <p:txBody>
          <a:bodyPr>
            <a:noAutofit/>
          </a:bodyPr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000"/>
              <a:t>Create and manage courses.</a:t>
            </a:r>
            <a:endParaRPr sz="20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000"/>
              <a:t> Allow students to enroll in available courses. </a:t>
            </a:r>
            <a:endParaRPr sz="20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000"/>
              <a:t> Track and update student learning progress. </a:t>
            </a:r>
            <a:endParaRPr sz="20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000"/>
              <a:t> Provide quiz questions for each course. </a:t>
            </a:r>
            <a:endParaRPr sz="20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000"/>
              <a:t> Allow students to submit quiz answers and record scores. </a:t>
            </a:r>
            <a:endParaRPr sz="20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000"/>
              <a:t> Provide REST APIs for communication between the frontend and backend. </a:t>
            </a:r>
            <a:endParaRPr sz="20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000"/>
              <a:t> Store course, enrollment, progress, quiz, and score information in a database.</a:t>
            </a:r>
            <a:endParaRPr sz="2000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baseline="0"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cs typeface="+mn-ea"/>
                <a:sym typeface="+mn-ea"/>
              </a:rPr>
              <a:t>OBJECTIVES</a:t>
            </a:r>
            <a:endParaRPr>
              <a:cs typeface="+mn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898640" y="7341234"/>
            <a:ext cx="10800000" cy="4873625"/>
          </a:xfrm>
        </p:spPr>
        <p:txBody>
          <a:bodyPr/>
          <a:p>
            <a:pPr marL="0" indent="0">
              <a:buNone/>
            </a:pPr>
            <a:r>
              <a:rPr lang="en-US" sz="100">
                <a:ea typeface="+mn-ea"/>
              </a:rPr>
              <a:t>单击此处编辑母版文本样式</a:t>
            </a:r>
            <a:endParaRPr lang="en-US" sz="100">
              <a:ea typeface="+mn-ea"/>
            </a:endParaRPr>
          </a:p>
          <a:p>
            <a:pPr marL="0" indent="0">
              <a:buNone/>
            </a:pPr>
            <a:r>
              <a:rPr lang="en-US" sz="100">
                <a:ea typeface="+mn-ea"/>
              </a:rPr>
              <a:t>二级</a:t>
            </a:r>
            <a:endParaRPr lang="en-US" sz="100">
              <a:ea typeface="+mn-ea"/>
            </a:endParaRPr>
          </a:p>
          <a:p>
            <a:pPr marL="0" indent="0">
              <a:buNone/>
            </a:pPr>
            <a:r>
              <a:rPr lang="en-US" sz="100">
                <a:ea typeface="+mn-ea"/>
              </a:rPr>
              <a:t>三级</a:t>
            </a:r>
            <a:endParaRPr lang="en-US" sz="100">
              <a:ea typeface="+mn-ea"/>
            </a:endParaRPr>
          </a:p>
          <a:p>
            <a:pPr marL="0" indent="0">
              <a:buNone/>
            </a:pPr>
            <a:r>
              <a:rPr lang="en-US" sz="100">
                <a:ea typeface="+mn-ea"/>
              </a:rPr>
              <a:t>四级</a:t>
            </a:r>
            <a:endParaRPr lang="en-US" sz="100">
              <a:ea typeface="+mn-ea"/>
            </a:endParaRPr>
          </a:p>
          <a:p>
            <a:pPr marL="0" indent="0">
              <a:buNone/>
            </a:pPr>
            <a:r>
              <a:rPr lang="en-US" sz="100">
                <a:ea typeface="+mn-ea"/>
              </a:rPr>
              <a:t>五级</a:t>
            </a:r>
            <a:endParaRPr lang="en-US" sz="100">
              <a:ea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72770" y="1080134"/>
            <a:ext cx="10800000" cy="48736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en-US" sz="2000" dirty="0">
                <a:solidFill>
                  <a:schemeClr val="tx1"/>
                </a:solidFill>
              </a:rPr>
              <a:t>Course Management – Add and view courses.</a:t>
            </a:r>
            <a:endParaRPr lang="en-US" altLang="en-US" sz="2000" dirty="0">
              <a:solidFill>
                <a:schemeClr val="tx1"/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en-US" sz="2000" dirty="0">
                <a:solidFill>
                  <a:schemeClr val="tx1"/>
                </a:solidFill>
              </a:rPr>
              <a:t>Course Enrollment – Students can enroll in courses.</a:t>
            </a:r>
            <a:endParaRPr lang="en-US" altLang="en-US" sz="2000" dirty="0">
              <a:solidFill>
                <a:schemeClr val="tx1"/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en-US" sz="2000" dirty="0">
                <a:solidFill>
                  <a:schemeClr val="tx1"/>
                </a:solidFill>
              </a:rPr>
              <a:t>Progress Tracking – Students can track their learning progress.</a:t>
            </a:r>
            <a:endParaRPr lang="en-US" altLang="en-US" sz="2000" dirty="0">
              <a:solidFill>
                <a:schemeClr val="tx1"/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en-US" sz="2000" dirty="0">
                <a:solidFill>
                  <a:schemeClr val="tx1"/>
                </a:solidFill>
              </a:rPr>
              <a:t>Quiz Management – Students can attend quizzes and submit scores.</a:t>
            </a:r>
            <a:endParaRPr lang="en-US" altLang="en-US" sz="2000" dirty="0">
              <a:solidFill>
                <a:schemeClr val="tx1"/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en-US" sz="2000" dirty="0">
                <a:solidFill>
                  <a:schemeClr val="tx1"/>
                </a:solidFill>
              </a:rPr>
              <a:t>Data Storage – Store course, student, progress, and quiz information.</a:t>
            </a:r>
            <a:endParaRPr lang="en-US" altLang="en-US" sz="2000" dirty="0">
              <a:solidFill>
                <a:schemeClr val="tx1"/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en-US" sz="2000" dirty="0">
                <a:solidFill>
                  <a:schemeClr val="tx1"/>
                </a:solidFill>
              </a:rPr>
              <a:t>Frontend–Backend Communication – React communicates with Spring Boot through REST APIs.</a:t>
            </a:r>
            <a:endParaRPr lang="en-US" altLang="en-US" sz="2000" dirty="0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>
                <a:latin typeface="+mj-lt"/>
                <a:cs typeface="+mn-ea"/>
                <a:sym typeface="+mn-ea"/>
              </a:rPr>
              <a:t>REVIEW 1 RECAP</a:t>
            </a:r>
            <a:endParaRPr>
              <a:latin typeface="+mj-lt"/>
              <a:cs typeface="+mn-ea"/>
              <a:sym typeface="+mn-ea"/>
            </a:endParaRPr>
          </a:p>
        </p:txBody>
      </p:sp>
      <p:pic>
        <p:nvPicPr>
          <p:cNvPr id="7" name="Picture 6" descr="swagger"/>
          <p:cNvPicPr>
            <a:picLocks noChangeAspect="1"/>
          </p:cNvPicPr>
          <p:nvPr/>
        </p:nvPicPr>
        <p:blipFill>
          <a:blip r:embed="rId2"/>
          <a:srcRect t="-1189"/>
          <a:stretch>
            <a:fillRect/>
          </a:stretch>
        </p:blipFill>
        <p:spPr>
          <a:xfrm>
            <a:off x="695960" y="1306195"/>
            <a:ext cx="10766425" cy="497205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71550" y="1268095"/>
          <a:ext cx="9944735" cy="4688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026535"/>
                <a:gridCol w="5918200"/>
              </a:tblGrid>
              <a:tr h="586105">
                <a:tc>
                  <a:txBody>
                    <a:bodyPr/>
                    <a:lstStyle/>
                    <a:p>
                      <a:r>
                        <a:rPr lang="en-US" altLang="en-US" sz="2000"/>
                        <a:t>React.js</a:t>
                      </a:r>
                      <a:endParaRPr lang="en-US" altLang="en-US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US" sz="2000"/>
                        <a:t>Build the user interface</a:t>
                      </a:r>
                      <a:endParaRPr lang="en-US" altLang="en-US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6105">
                <a:tc>
                  <a:txBody>
                    <a:bodyPr/>
                    <a:lstStyle/>
                    <a:p>
                      <a:r>
                        <a:rPr lang="en-US" altLang="en-US" sz="2000"/>
                        <a:t>JavaScript</a:t>
                      </a:r>
                      <a:endParaRPr lang="en-US" altLang="en-US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US" sz="2000"/>
                        <a:t>Application logic</a:t>
                      </a:r>
                      <a:endParaRPr lang="en-US" altLang="en-US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6105">
                <a:tc>
                  <a:txBody>
                    <a:bodyPr/>
                    <a:lstStyle/>
                    <a:p>
                      <a:r>
                        <a:rPr lang="en-US" altLang="en-US" sz="2000"/>
                        <a:t>HTML5 &amp; CSS3</a:t>
                      </a:r>
                      <a:endParaRPr lang="en-US" altLang="en-US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US" sz="2000"/>
                        <a:t>Structure and styling</a:t>
                      </a:r>
                      <a:endParaRPr lang="en-US" altLang="en-US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6105">
                <a:tc>
                  <a:txBody>
                    <a:bodyPr/>
                    <a:lstStyle/>
                    <a:p>
                      <a:r>
                        <a:rPr lang="en-US" altLang="en-US" sz="2000"/>
                        <a:t>React Router</a:t>
                      </a:r>
                      <a:endParaRPr lang="en-US" altLang="en-US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US" sz="2000"/>
                        <a:t>Page navigation</a:t>
                      </a:r>
                      <a:endParaRPr lang="en-US" altLang="en-US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6105">
                <a:tc>
                  <a:txBody>
                    <a:bodyPr/>
                    <a:lstStyle/>
                    <a:p>
                      <a:r>
                        <a:rPr lang="en-US" altLang="en-US" sz="2000"/>
                        <a:t>Axios</a:t>
                      </a:r>
                      <a:endParaRPr lang="en-US" altLang="en-US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US" sz="2000"/>
                        <a:t>Communication with backend REST APIs</a:t>
                      </a:r>
                      <a:endParaRPr lang="en-US" altLang="en-US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6105">
                <a:tc>
                  <a:txBody>
                    <a:bodyPr/>
                    <a:lstStyle/>
                    <a:p>
                      <a:r>
                        <a:rPr lang="en-US" altLang="en-US" sz="2000"/>
                        <a:t>React Hooks</a:t>
                      </a:r>
                      <a:endParaRPr lang="en-US" altLang="en-US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US" sz="2000"/>
                        <a:t>useState, useEffect, useNavigate</a:t>
                      </a:r>
                      <a:endParaRPr lang="en-US" altLang="en-US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6105">
                <a:tc>
                  <a:txBody>
                    <a:bodyPr/>
                    <a:lstStyle/>
                    <a:p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6105">
                <a:tc>
                  <a:txBody>
                    <a:bodyPr/>
                    <a:lstStyle/>
                    <a:p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itle 4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>
                <a:latin typeface="+mj-lt"/>
                <a:cs typeface="+mn-ea"/>
                <a:sym typeface="+mn-ea"/>
              </a:rPr>
              <a:t>TECHNOLOGY STACK</a:t>
            </a:r>
            <a:endParaRPr>
              <a:latin typeface="+mj-lt"/>
              <a:cs typeface="+mn-ea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0621645" y="304165"/>
            <a:ext cx="459740" cy="22860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r>
              <a:rPr lang="en-US"/>
              <a:t>``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>
            <a:spLocks noGrp="1" noRot="1" noChangeAspect="1" noMove="1" noResize="1" noEditPoints="1" noAdjustHandles="1" noChangeArrowheads="1" noChangeShapeType="1" noTextEdit="1"/>
          </p:cNvSpPr>
          <p:nvPr>
            <p:custDataLst>
              <p:tags r:id="rId1"/>
            </p:custData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6" name="Rectangle 25"/>
          <p:cNvSpPr>
            <a:spLocks noGrp="1" noRot="1" noChangeAspect="1" noMove="1" noResize="1" noEditPoints="1" noAdjustHandles="1" noChangeArrowheads="1" noChangeShapeType="1" noTextEdit="1"/>
          </p:cNvSpPr>
          <p:nvPr>
            <p:custDataLst>
              <p:tags r:id="rId2"/>
            </p:custData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7" name="Rectangle 26"/>
          <p:cNvSpPr>
            <a:spLocks noGrp="1" noRot="1" noChangeAspect="1" noMove="1" noResize="1" noEditPoints="1" noAdjustHandles="1" noChangeArrowheads="1" noChangeShapeType="1" noTextEdit="1"/>
          </p:cNvSpPr>
          <p:nvPr>
            <p:custDataLst>
              <p:tags r:id="rId3"/>
            </p:custData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  <a:alpha val="0"/>
                </a:schemeClr>
              </a:gs>
              <a:gs pos="100000">
                <a:schemeClr val="dk1">
                  <a:alpha val="46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3" name="Picture 2" descr="react architectur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635" y="127635"/>
            <a:ext cx="9870440" cy="657987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                                 ADDING A COURSE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b="4597"/>
          <a:stretch>
            <a:fillRect/>
          </a:stretch>
        </p:blipFill>
        <p:spPr>
          <a:xfrm>
            <a:off x="768350" y="1691005"/>
            <a:ext cx="10727690" cy="45383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                                 LIST OF COURSES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t="13609" r="1481" b="6368"/>
          <a:stretch>
            <a:fillRect/>
          </a:stretch>
        </p:blipFill>
        <p:spPr>
          <a:xfrm>
            <a:off x="949960" y="1595755"/>
            <a:ext cx="10139680" cy="41236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baseline="0"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cs typeface="+mn-ea"/>
                <a:sym typeface="+mn-ea"/>
              </a:rPr>
              <a:t>CONCLUSION</a:t>
            </a:r>
            <a:endParaRPr>
              <a:cs typeface="+mn-ea"/>
              <a:sym typeface="+mn-ea"/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ea typeface="+mn-ea"/>
              </a:rPr>
              <a:t>Developed a simple Learning Management System (LMS).</a:t>
            </a:r>
            <a:endParaRPr lang="en-US" altLang="en-US">
              <a:ea typeface="+mn-ea"/>
            </a:endParaRPr>
          </a:p>
          <a:p>
            <a:r>
              <a:rPr lang="en-US" altLang="en-US">
                <a:ea typeface="+mn-ea"/>
              </a:rPr>
              <a:t>Users can view and add courses.</a:t>
            </a:r>
            <a:endParaRPr lang="en-US" altLang="en-US">
              <a:ea typeface="+mn-ea"/>
            </a:endParaRPr>
          </a:p>
          <a:p>
            <a:r>
              <a:rPr lang="en-US" altLang="en-US">
                <a:ea typeface="+mn-ea"/>
              </a:rPr>
              <a:t>Users can enroll in courses and track progress.</a:t>
            </a:r>
            <a:endParaRPr lang="en-US" altLang="en-US">
              <a:ea typeface="+mn-ea"/>
            </a:endParaRPr>
          </a:p>
          <a:p>
            <a:r>
              <a:rPr lang="en-US" altLang="en-US">
                <a:ea typeface="+mn-ea"/>
              </a:rPr>
              <a:t>Users can attend quizzes and view scores.</a:t>
            </a:r>
            <a:endParaRPr lang="en-US" altLang="en-US">
              <a:ea typeface="+mn-ea"/>
            </a:endParaRPr>
          </a:p>
          <a:p>
            <a:r>
              <a:rPr lang="en-US" altLang="en-US">
                <a:ea typeface="+mn-ea"/>
              </a:rPr>
              <a:t>React is used for the frontend.</a:t>
            </a:r>
            <a:endParaRPr lang="en-US" altLang="en-US">
              <a:ea typeface="+mn-ea"/>
            </a:endParaRPr>
          </a:p>
          <a:p>
            <a:r>
              <a:rPr lang="en-US" altLang="en-US">
                <a:ea typeface="+mn-ea"/>
              </a:rPr>
              <a:t>Spring Boot and MySQL are used for backend and data storage.</a:t>
            </a:r>
            <a:endParaRPr lang="en-US" altLang="en-US">
              <a:ea typeface="+mn-ea"/>
            </a:endParaRPr>
          </a:p>
          <a:p>
            <a:r>
              <a:rPr lang="en-US" altLang="en-US">
                <a:ea typeface="+mn-ea"/>
              </a:rPr>
              <a:t>The project makes course management simple and easy.</a:t>
            </a:r>
            <a:endParaRPr lang="en-US" altLang="en-US">
              <a:ea typeface="+mn-ea"/>
            </a:endParaRPr>
          </a:p>
        </p:txBody>
      </p:sp>
      <p:sp>
        <p:nvSpPr>
          <p:cNvPr id="3" name="Content Placeholder 3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endParaRPr lang="en-US" altLang="en-US" sz="3200" b="1" dirty="0">
              <a:solidFill>
                <a:schemeClr val="tx1"/>
              </a:solidFill>
              <a:cs typeface="+mn-lt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>
          <a:xfrm>
            <a:off x="8976049" y="4321810"/>
            <a:ext cx="2177091" cy="486566"/>
          </a:xfrm>
        </p:spPr>
        <p:txBody>
          <a:bodyPr>
            <a:normAutofit fontScale="80000"/>
          </a:bodyPr>
          <a:lstStyle/>
          <a:p>
            <a:r>
              <a:rPr lang="en-US"/>
              <a:t>BY ASHWIN KRISHNA V</a:t>
            </a:r>
            <a:endParaRPr lang="en-US"/>
          </a:p>
        </p:txBody>
      </p:sp>
      <p:sp>
        <p:nvSpPr>
          <p:cNvPr id="7" name="标题 5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5059680" y="2042795"/>
            <a:ext cx="6155055" cy="2093595"/>
          </a:xfrm>
        </p:spPr>
        <p:txBody>
          <a:bodyPr/>
          <a:lstStyle/>
          <a:p>
            <a:r>
              <a:rPr lang="en-US"/>
              <a:t>THANK YOU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TEXT_FILL_FORE_SCHEMECOLOR_INDEX_BRIGHTNESS" val="-0.25"/>
  <p:tag name="KSO_WM_UNIT_TEXT_FILL_FORE_SCHEMECOLOR_INDEX" val="14"/>
  <p:tag name="KSO_WM_UNIT_TEXT_FILL_TYPE" val="1"/>
  <p:tag name="KSO_WM_UNIT_SUBTYPE" val="b"/>
  <p:tag name="KSO_WM_UNIT_PRESET_TEXT" val="汇报人：稻壳儿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TEXT_FILL_FORE_SCHEMECOLOR_INDEX_BRIGHTNESS" val="-0.25"/>
  <p:tag name="KSO_WM_UNIT_TEXT_FILL_FORE_SCHEMECOLOR_INDEX" val="14"/>
  <p:tag name="KSO_WM_UNIT_TEXT_FILL_TYPE" val="1"/>
  <p:tag name="KSO_WM_UNIT_ISCONTENTSTITLE" val="0"/>
  <p:tag name="KSO_WM_UNIT_ISNUMDGMTITLE" val="0"/>
  <p:tag name="KSO_WM_UNIT_PRESET_TEXT" val="单击此处添加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3*i*5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299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299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TEXT_FILL_FORE_SCHEMECOLOR_INDEX_BRIGHTNESS" val="-0.25"/>
  <p:tag name="KSO_WM_UNIT_TEXT_FILL_FORE_SCHEMECOLOR_INDEX" val="14"/>
  <p:tag name="KSO_WM_UNIT_TEXT_FILL_TYPE" val="1"/>
  <p:tag name="KSO_WM_UNIT_SUBTYPE" val="b"/>
  <p:tag name="KSO_WM_UNIT_PRESET_TEXT" val="汇报人：稻壳儿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的观看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7979"/>
</p:tagLst>
</file>

<file path=ppt/tags/tag76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7979"/>
</p:tagLst>
</file>

<file path=ppt/tags/tag77.xml><?xml version="1.0" encoding="utf-8"?>
<p:tagLst xmlns:p="http://schemas.openxmlformats.org/presentationml/2006/main">
  <p:tag name="KSO_WM_SPECIAL_SOURCE" val="bdnull"/>
  <p:tag name="KSO_WM_TEMPLATE_THUMBS_INDEX" val="1、11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7979"/>
</p:tagLst>
</file>

<file path=ppt/tags/tag7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79.xml><?xml version="1.0" encoding="utf-8"?>
<p:tagLst xmlns:p="http://schemas.openxmlformats.org/presentationml/2006/main">
  <p:tag name="KSO_WM_UNIT_INDEX" val="6"/>
  <p:tag name="KSO_WM_UNIT_TYPE" val="f"/>
  <p:tag name="KSO_WM_UNIT_SUBTYPE" val="b"/>
  <p:tag name="KSO_WM_BEAUTIFY_FLAG" val="#wm#"/>
</p:tagLst>
</file>

<file path=ppt/tags/tag80.xml><?xml version="1.0" encoding="utf-8"?>
<p:tagLst xmlns:p="http://schemas.openxmlformats.org/presentationml/2006/main">
  <p:tag name="KSO_WM_UNIT_TEXT_FILL_FORE_SCHEMECOLOR_INDEX_BRIGHTNESS" val="-0.25"/>
  <p:tag name="KSO_WM_UNIT_TEXT_FILL_FORE_SCHEMECOLOR_INDEX" val="14"/>
  <p:tag name="KSO_WM_UNIT_TEXT_FILL_TYPE" val="1"/>
  <p:tag name="KSO_WM_UNIT_ISCONTENTSTITLE" val="0"/>
  <p:tag name="KSO_WM_UNIT_ISNUMDGMTITLE" val="0"/>
  <p:tag name="KSO_WM_UNIT_PRESET_TEXT" val="单击此处添加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TEMPLATE_CATEGORY" val="custom"/>
  <p:tag name="KSO_WM_TEMPLATE_INDEX" val="20237979"/>
  <p:tag name="KSO_WM_UNIT_LAYERLEVEL" val="1"/>
  <p:tag name="KSO_WM_TAG_VERSION" val="3.0"/>
  <p:tag name="KSO_WM_BEAUTIFY_FLAG" val="#wm#"/>
  <p:tag name="KSO_WM_UNIT_CONTENT_GROUP_TYPE" val="contentchip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7979_1*a*1"/>
  <p:tag name="KSO_WM_TEMPLATE_CATEGORY" val="custom"/>
  <p:tag name="KSO_WM_TEMPLATE_INDEX" val="20237979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SPECIAL_SOURCE" val="bdnull"/>
  <p:tag name="KSO_WM_TEMPLATE_THUMBS_INDEX" val="1、11"/>
  <p:tag name="KSO_WM_SLIDE_CONTENT_AREA" val="{&quot;left&quot;:&quot;462.85&quot;,&quot;top&quot;:&quot;118.75&quot;,&quot;width&quot;:&quot;459.25&quot;,&quot;height&quot;:&quot;265.1&quot;}"/>
  <p:tag name="KSO_WM_SLIDE_ID" val="custom20237979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7979"/>
  <p:tag name="KSO_WM_SLIDE_LAYOUT" val="a_b_f"/>
  <p:tag name="KSO_WM_SLIDE_LAYOUT_CNT" val="1_1_1"/>
  <p:tag name="KSO_WM_SLIDE_THEME_ID" val="3302786"/>
  <p:tag name="KSO_WM_SLIDE_THEME_NAME" val="Blue Chinoiserie"/>
</p:tagLst>
</file>

<file path=ppt/tags/tag8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SLIDE_TYPE" val="text"/>
  <p:tag name="KSO_WM_BEAUTIFY_FLAG" val="#wm#"/>
</p:tagLst>
</file>

<file path=ppt/tags/tag86.xml><?xml version="1.0" encoding="utf-8"?>
<p:tagLst xmlns:p="http://schemas.openxmlformats.org/presentationml/2006/main">
  <p:tag name="KSO_WM_UNIT_TEXT" val="PROBLEM STATEMENT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8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89.xml><?xml version="1.0" encoding="utf-8"?>
<p:tagLst xmlns:p="http://schemas.openxmlformats.org/presentationml/2006/main">
  <p:tag name="KSO_WM_SLIDE_TYPE" val="text"/>
  <p:tag name="KSO_WM_BEAUTIFY_FLAG" val="#wm#"/>
</p:tagLst>
</file>

<file path=ppt/tags/tag9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SLIDE_TYPE" val="text"/>
  <p:tag name="KSO_WM_BEAUTIFY_FLAG" val="#wm#"/>
</p:tagLst>
</file>

<file path=ppt/tags/tag92.xml><?xml version="1.0" encoding="utf-8"?>
<p:tagLst xmlns:p="http://schemas.openxmlformats.org/presentationml/2006/main">
  <p:tag name="KSO_WM_UNIT_INDEX" val="6"/>
  <p:tag name="KSO_WM_UNIT_TYPE" val="β"/>
  <p:tag name="KSO_WM_BEAUTIFY_FLAG" val="#wm#"/>
  <p:tag name="TABLE_ENDDRAG_ORIGIN_RECT" val="783*369"/>
  <p:tag name="TABLE_ENDDRAG_RECT" val="76*99*783*369"/>
</p:tagLst>
</file>

<file path=ppt/tags/tag93.xml><?xml version="1.0" encoding="utf-8"?>
<p:tagLst xmlns:p="http://schemas.openxmlformats.org/presentationml/2006/main">
  <p:tag name="KSO_WM_UNIT_TEXT" val="REVIEW 1 RECAP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</p:tagLst>
</file>

<file path=ppt/tags/tag94.xml><?xml version="1.0" encoding="utf-8"?>
<p:tagLst xmlns:p="http://schemas.openxmlformats.org/presentationml/2006/main">
  <p:tag name="KSO_WM_SLIDE_TYPE" val="text"/>
  <p:tag name="KSO_WM_BEAUTIFY_FLAG" val="#wm#"/>
</p:tagLst>
</file>

<file path=ppt/tags/tag95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96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97.xml><?xml version="1.0" encoding="utf-8"?>
<p:tagLst xmlns:p="http://schemas.openxmlformats.org/presentationml/2006/main">
  <p:tag name="KSO_WM_UNIT_INDEX" val="4"/>
  <p:tag name="KSO_WM_UNIT_TYPE" val="j"/>
  <p:tag name="KSO_WM_BEAUTIFY_FLAG" val="#wm#"/>
</p:tagLst>
</file>

<file path=ppt/tags/tag98.xml><?xml version="1.0" encoding="utf-8"?>
<p:tagLst xmlns:p="http://schemas.openxmlformats.org/presentationml/2006/main">
  <p:tag name="KSO_WM_SLIDE_TYPE" val="text"/>
  <p:tag name="KSO_WM_BEAUTIFY_FLAG" val="#wm#"/>
</p:tagLst>
</file>

<file path=ppt/tags/tag9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TEXT" val="HOOKS USED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0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104.xml><?xml version="1.0" encoding="utf-8"?>
<p:tagLst xmlns:p="http://schemas.openxmlformats.org/presentationml/2006/main">
  <p:tag name="KSO_WM_SLIDE_TYPE" val="text"/>
  <p:tag name="KSO_WM_BEAUTIFY_FLAG" val="#wm#"/>
</p:tagLst>
</file>

<file path=ppt/tags/tag105.xml><?xml version="1.0" encoding="utf-8"?>
<p:tagLst xmlns:p="http://schemas.openxmlformats.org/presentationml/2006/main">
  <p:tag name="KSO_WM_UNIT_TEXT_FILL_FORE_SCHEMECOLOR_INDEX_BRIGHTNESS" val="-0.25"/>
  <p:tag name="KSO_WM_UNIT_TEXT_FILL_FORE_SCHEMECOLOR_INDEX" val="14"/>
  <p:tag name="KSO_WM_UNIT_TEXT_FILL_TYPE" val="1"/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custom20237979_11*f*1"/>
  <p:tag name="KSO_WM_TEMPLATE_CATEGORY" val="custom"/>
  <p:tag name="KSO_WM_TEMPLATE_INDEX" val="20237979"/>
  <p:tag name="KSO_WM_UNIT_LAYERLEVEL" val="1"/>
  <p:tag name="KSO_WM_TAG_VERSION" val="3.0"/>
  <p:tag name="KSO_WM_BEAUTIFY_FLAG" val="#wm#"/>
  <p:tag name="KSO_WM_UNIT_PRESET_TEXT" val="Name"/>
</p:tagLst>
</file>

<file path=ppt/tags/tag10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7979_11*a*1"/>
  <p:tag name="KSO_WM_TEMPLATE_CATEGORY" val="custom"/>
  <p:tag name="KSO_WM_TEMPLATE_INDEX" val="20237979"/>
  <p:tag name="KSO_WM_UNIT_LAYERLEVEL" val="1"/>
  <p:tag name="KSO_WM_TAG_VERSION" val="3.0"/>
  <p:tag name="KSO_WM_BEAUTIFY_FLAG" val="#wm#"/>
  <p:tag name="KSO_WM_UNIT_PRESET_TEXT" val="THANK YOU"/>
</p:tagLst>
</file>

<file path=ppt/tags/tag107.xml><?xml version="1.0" encoding="utf-8"?>
<p:tagLst xmlns:p="http://schemas.openxmlformats.org/presentationml/2006/main">
  <p:tag name="KSO_WM_SPECIAL_SOURCE" val="bdnull"/>
  <p:tag name="KSO_WM_SLIDE_CONTENT_AREA" val="{&quot;left&quot;:&quot;462.85&quot;,&quot;top&quot;:&quot;118.75&quot;,&quot;width&quot;:&quot;459.25&quot;,&quot;height&quot;:&quot;265.1&quot;}"/>
  <p:tag name="KSO_WM_SLIDE_ID" val="custom20237979_11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11"/>
  <p:tag name="KSO_WM_TAG_VERSION" val="3.0"/>
  <p:tag name="KSO_WM_BEAUTIFY_FLAG" val="#wm#"/>
  <p:tag name="KSO_WM_TEMPLATE_CATEGORY" val="custom"/>
  <p:tag name="KSO_WM_TEMPLATE_INDEX" val="20237979"/>
  <p:tag name="KSO_WM_SLIDE_LAYOUT" val="a_f"/>
  <p:tag name="KSO_WM_SLIDE_LAYOUT_CNT" val="1_1"/>
  <p:tag name="KSO_WM_SLIDE_THEME_ID" val="3302786"/>
  <p:tag name="KSO_WM_SLIDE_THEME_NAME" val="Blue Chinoiserie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自定义 69">
      <a:dk1>
        <a:srgbClr val="000000"/>
      </a:dk1>
      <a:lt1>
        <a:srgbClr val="FFFFFF"/>
      </a:lt1>
      <a:dk2>
        <a:srgbClr val="253A3F"/>
      </a:dk2>
      <a:lt2>
        <a:srgbClr val="ADC8CE"/>
      </a:lt2>
      <a:accent1>
        <a:srgbClr val="578591"/>
      </a:accent1>
      <a:accent2>
        <a:srgbClr val="77A3AE"/>
      </a:accent2>
      <a:accent3>
        <a:srgbClr val="D36250"/>
      </a:accent3>
      <a:accent4>
        <a:srgbClr val="EC9B86"/>
      </a:accent4>
      <a:accent5>
        <a:srgbClr val="A0B9C6"/>
      </a:accent5>
      <a:accent6>
        <a:srgbClr val="B1B3D3"/>
      </a:accent6>
      <a:hlink>
        <a:srgbClr val="EC5F74"/>
      </a:hlink>
      <a:folHlink>
        <a:srgbClr val="6096E6"/>
      </a:folHlink>
    </a:clrScheme>
    <a:fontScheme name="字体-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1538</Words>
  <Application>WPS Presentation</Application>
  <PresentationFormat>Custom</PresentationFormat>
  <Paragraphs>84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Arial</vt:lpstr>
      <vt:lpstr>SimSun</vt:lpstr>
      <vt:lpstr>Wingdings</vt:lpstr>
      <vt:lpstr>Wingdings</vt:lpstr>
      <vt:lpstr>Charis SIL</vt:lpstr>
      <vt:lpstr>Segoe Print</vt:lpstr>
      <vt:lpstr>Crimson Text SemiBold</vt:lpstr>
      <vt:lpstr>Microsoft YaHei</vt:lpstr>
      <vt:lpstr>Arial Unicode MS</vt:lpstr>
      <vt:lpstr>Calibri</vt:lpstr>
      <vt:lpstr>Aptos Display</vt:lpstr>
      <vt:lpstr>Segoe UI Variable Display</vt:lpstr>
      <vt:lpstr>Aptos</vt:lpstr>
      <vt:lpstr>Segoe UI</vt:lpstr>
      <vt:lpstr>Office Theme</vt:lpstr>
      <vt:lpstr>2_Office Theme</vt:lpstr>
      <vt:lpstr>LEARNING MANAGEMENT SYSTEM</vt:lpstr>
      <vt:lpstr>PROBLEM STATEMENT</vt:lpstr>
      <vt:lpstr>NEED</vt:lpstr>
      <vt:lpstr>REVIEW 1 RECAP</vt:lpstr>
      <vt:lpstr>TECHNOLOGY STACK</vt:lpstr>
      <vt:lpstr>PowerPoint 演示文稿</vt:lpstr>
      <vt:lpstr>PowerPoint 演示文稿</vt:lpstr>
      <vt:lpstr>PowerPoint 演示文稿</vt:lpstr>
      <vt:lpstr>CONCLUSION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E-WALLET MANAGEMENT  SYSTEM</dc:title>
  <dc:creator/>
  <cp:lastModifiedBy>vakri</cp:lastModifiedBy>
  <cp:revision>340</cp:revision>
  <dcterms:created xsi:type="dcterms:W3CDTF">2026-07-12T04:54:00Z</dcterms:created>
  <dcterms:modified xsi:type="dcterms:W3CDTF">2026-08-31T17:36:48Z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3BAEDA937A8F45B6A9D90B14BC129FF2_13</vt:lpwstr>
  </property>
</Properties>
</file>