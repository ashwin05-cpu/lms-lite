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等线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5282F153-3F37-0F45-9E97-73ACFA13230C}" type="datetimeFigureOut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2052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CE5E9CC1-C706-0F49-92D6-E571CC5EEA8F}" type="slidenum">
              <a:rPr lang="en-US" strike="noStrike" noProof="1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8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409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6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614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194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819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24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2290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0722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0" name="Notes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Shape 0"/>
          <p:cNvSpPr/>
          <p:nvPr/>
        </p:nvSpPr>
        <p:spPr>
          <a:xfrm>
            <a:off x="8869363" y="-2103437"/>
            <a:ext cx="5943600" cy="5943600"/>
          </a:xfrm>
          <a:prstGeom prst="ellipse">
            <a:avLst/>
          </a:prstGeom>
          <a:solidFill>
            <a:srgbClr val="263480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3075" name="Shape 1"/>
          <p:cNvSpPr/>
          <p:nvPr/>
        </p:nvSpPr>
        <p:spPr>
          <a:xfrm>
            <a:off x="10607675" y="4206875"/>
            <a:ext cx="3840163" cy="3840163"/>
          </a:xfrm>
          <a:prstGeom prst="ellipse">
            <a:avLst/>
          </a:prstGeom>
          <a:solidFill>
            <a:srgbClr val="263480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838" y="1417638"/>
            <a:ext cx="8229600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400" b="1" kern="0" spc="300" noProof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PRESENTATION</a:t>
            </a:r>
            <a:endParaRPr lang="en-US" sz="1400" noProof="1" dirty="0"/>
          </a:p>
        </p:txBody>
      </p:sp>
      <p:sp>
        <p:nvSpPr>
          <p:cNvPr id="3077" name="Text 3"/>
          <p:cNvSpPr txBox="1"/>
          <p:nvPr/>
        </p:nvSpPr>
        <p:spPr>
          <a:xfrm>
            <a:off x="731838" y="1828800"/>
            <a:ext cx="9875837" cy="1463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r>
              <a:rPr lang="en-US" altLang="zh-CN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Learning Management System (LMS) Lite</a:t>
            </a:r>
            <a:endParaRPr lang="en-US" altLang="zh-CN" sz="4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3078" name="Text 4"/>
          <p:cNvSpPr txBox="1"/>
          <p:nvPr/>
        </p:nvSpPr>
        <p:spPr>
          <a:xfrm>
            <a:off x="731838" y="3063875"/>
            <a:ext cx="8686800" cy="5476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 secure, role-based platform for course delivery, assessment, and learning analytics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3079" name="Shape 5"/>
          <p:cNvSpPr/>
          <p:nvPr/>
        </p:nvSpPr>
        <p:spPr>
          <a:xfrm>
            <a:off x="731838" y="3978275"/>
            <a:ext cx="3840162" cy="0"/>
          </a:xfrm>
          <a:prstGeom prst="line">
            <a:avLst/>
          </a:prstGeom>
          <a:ln w="25400" cap="flat" cmpd="sng">
            <a:solidFill>
              <a:srgbClr val="F2A93B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" name="Text 6"/>
          <p:cNvSpPr txBox="1"/>
          <p:nvPr/>
        </p:nvSpPr>
        <p:spPr>
          <a:xfrm>
            <a:off x="731838" y="4251325"/>
            <a:ext cx="27432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050" b="1" kern="0" spc="100" noProof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NAME(S)</a:t>
            </a:r>
            <a:endParaRPr lang="en-US" sz="1050" noProof="1" dirty="0"/>
          </a:p>
        </p:txBody>
      </p:sp>
      <p:sp>
        <p:nvSpPr>
          <p:cNvPr id="9" name="Text 7"/>
          <p:cNvSpPr txBox="1"/>
          <p:nvPr/>
        </p:nvSpPr>
        <p:spPr>
          <a:xfrm>
            <a:off x="3565525" y="4251325"/>
            <a:ext cx="59436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250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Ashwin Krishna V</a:t>
            </a:r>
            <a:endParaRPr lang="en-US" sz="1250" noProof="1" dirty="0"/>
          </a:p>
        </p:txBody>
      </p:sp>
      <p:sp>
        <p:nvSpPr>
          <p:cNvPr id="10" name="Text 8"/>
          <p:cNvSpPr txBox="1"/>
          <p:nvPr/>
        </p:nvSpPr>
        <p:spPr>
          <a:xfrm>
            <a:off x="731838" y="4635500"/>
            <a:ext cx="27432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050" b="1" kern="0" spc="100" noProof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ROLL NUMBER</a:t>
            </a:r>
            <a:endParaRPr lang="en-US" sz="1050" noProof="1" dirty="0"/>
          </a:p>
        </p:txBody>
      </p:sp>
      <p:sp>
        <p:nvSpPr>
          <p:cNvPr id="11" name="Text 9"/>
          <p:cNvSpPr txBox="1"/>
          <p:nvPr/>
        </p:nvSpPr>
        <p:spPr>
          <a:xfrm>
            <a:off x="3565525" y="4635500"/>
            <a:ext cx="59436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250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727824TUCS031</a:t>
            </a:r>
            <a:endParaRPr lang="en-US" sz="1250" noProof="1" dirty="0"/>
          </a:p>
        </p:txBody>
      </p:sp>
      <p:sp>
        <p:nvSpPr>
          <p:cNvPr id="12" name="Text 10"/>
          <p:cNvSpPr txBox="1"/>
          <p:nvPr/>
        </p:nvSpPr>
        <p:spPr>
          <a:xfrm>
            <a:off x="731838" y="5019675"/>
            <a:ext cx="27432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050" b="1" kern="0" spc="100" noProof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/ SECTION</a:t>
            </a:r>
            <a:endParaRPr lang="en-US" sz="1050" noProof="1" dirty="0"/>
          </a:p>
        </p:txBody>
      </p:sp>
      <p:sp>
        <p:nvSpPr>
          <p:cNvPr id="13" name="Text 11"/>
          <p:cNvSpPr txBox="1"/>
          <p:nvPr/>
        </p:nvSpPr>
        <p:spPr>
          <a:xfrm>
            <a:off x="3565525" y="5019675"/>
            <a:ext cx="59436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250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CSE-E</a:t>
            </a:r>
            <a:endParaRPr lang="en-US" sz="1250" noProof="1" dirty="0"/>
          </a:p>
        </p:txBody>
      </p:sp>
      <p:sp>
        <p:nvSpPr>
          <p:cNvPr id="14" name="Text 12"/>
          <p:cNvSpPr txBox="1"/>
          <p:nvPr/>
        </p:nvSpPr>
        <p:spPr>
          <a:xfrm>
            <a:off x="731838" y="5403850"/>
            <a:ext cx="27432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050" b="1" kern="0" spc="100" noProof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COURSE / SUBJECT</a:t>
            </a:r>
            <a:endParaRPr lang="en-US" sz="1050" noProof="1" dirty="0"/>
          </a:p>
        </p:txBody>
      </p:sp>
      <p:sp>
        <p:nvSpPr>
          <p:cNvPr id="15" name="Text 13"/>
          <p:cNvSpPr txBox="1"/>
          <p:nvPr/>
        </p:nvSpPr>
        <p:spPr>
          <a:xfrm>
            <a:off x="3565525" y="5403850"/>
            <a:ext cx="59436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250" noProof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Application Development</a:t>
            </a:r>
            <a:endParaRPr lang="en-US" sz="1250" noProof="1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1838" y="5788025"/>
            <a:ext cx="27432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endParaRPr lang="en-US" sz="1050" noProof="1" dirty="0"/>
          </a:p>
        </p:txBody>
      </p:sp>
      <p:sp>
        <p:nvSpPr>
          <p:cNvPr id="17" name="Text 15"/>
          <p:cNvSpPr txBox="1"/>
          <p:nvPr/>
        </p:nvSpPr>
        <p:spPr>
          <a:xfrm>
            <a:off x="3565525" y="5788025"/>
            <a:ext cx="59436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endParaRPr lang="en-US" sz="1250" noProof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5123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01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5124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Project Overview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563" cy="480060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5126" name="Shape 4"/>
          <p:cNvSpPr/>
          <p:nvPr/>
        </p:nvSpPr>
        <p:spPr>
          <a:xfrm>
            <a:off x="658813" y="1554163"/>
            <a:ext cx="53975" cy="255587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5127" name="Text 5"/>
          <p:cNvSpPr txBox="1"/>
          <p:nvPr/>
        </p:nvSpPr>
        <p:spPr>
          <a:xfrm>
            <a:off x="804863" y="1517650"/>
            <a:ext cx="3062287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INTRODUCTION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838" y="1901825"/>
            <a:ext cx="3062288" cy="4087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LMS Lite is a standalone Spring Boot + React web application that lets educational institutions deliver online learning, manage courses and content, run assessments, and track student progress end to end.</a:t>
            </a:r>
            <a:endParaRPr lang="en-US" sz="1250" noProof="1" dirty="0"/>
          </a:p>
        </p:txBody>
      </p:sp>
      <p:sp>
        <p:nvSpPr>
          <p:cNvPr id="9" name="Shape 7"/>
          <p:cNvSpPr/>
          <p:nvPr/>
        </p:nvSpPr>
        <p:spPr>
          <a:xfrm>
            <a:off x="4251325" y="1371600"/>
            <a:ext cx="3613150" cy="480060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5130" name="Shape 8"/>
          <p:cNvSpPr/>
          <p:nvPr/>
        </p:nvSpPr>
        <p:spPr>
          <a:xfrm>
            <a:off x="4452938" y="1554163"/>
            <a:ext cx="55562" cy="255587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5131" name="Text 9"/>
          <p:cNvSpPr txBox="1"/>
          <p:nvPr/>
        </p:nvSpPr>
        <p:spPr>
          <a:xfrm>
            <a:off x="4598988" y="1517650"/>
            <a:ext cx="3063875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PROBLEM ADDRESSED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25963" y="1901825"/>
            <a:ext cx="3063875" cy="4087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Institutions need one streamlined, secure system to deliver courses, assess learners, and generate educational insights — instead of juggling disconnected tools for content, grading, and communication.</a:t>
            </a:r>
            <a:endParaRPr lang="en-US" sz="1250" noProof="1" dirty="0"/>
          </a:p>
        </p:txBody>
      </p:sp>
      <p:sp>
        <p:nvSpPr>
          <p:cNvPr id="13" name="Shape 11"/>
          <p:cNvSpPr/>
          <p:nvPr/>
        </p:nvSpPr>
        <p:spPr>
          <a:xfrm>
            <a:off x="8047038" y="1371600"/>
            <a:ext cx="3684588" cy="4800600"/>
          </a:xfrm>
          <a:prstGeom prst="roundRect">
            <a:avLst>
              <a:gd name="adj" fmla="val 198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5134" name="Shape 12"/>
          <p:cNvSpPr/>
          <p:nvPr/>
        </p:nvSpPr>
        <p:spPr>
          <a:xfrm>
            <a:off x="8248650" y="1554163"/>
            <a:ext cx="53975" cy="255587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5135" name="Text 13"/>
          <p:cNvSpPr txBox="1"/>
          <p:nvPr/>
        </p:nvSpPr>
        <p:spPr>
          <a:xfrm>
            <a:off x="8394700" y="1517650"/>
            <a:ext cx="3135313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PURPOSE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21675" y="1901825"/>
            <a:ext cx="3135313" cy="4087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instructors, content creators, TAs, and administrators role-appropriate tools to run academic operations digitally, while keeping student data secure and FERPA / WCAG 2.1 compliant.</a:t>
            </a:r>
            <a:endParaRPr lang="en-US" sz="1250" noProof="1" dirty="0"/>
          </a:p>
        </p:txBody>
      </p:sp>
      <p:sp>
        <p:nvSpPr>
          <p:cNvPr id="5137" name="Text 15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5138" name="Text 16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01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7171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02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7172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Problem Statement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563" cy="480060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7174" name="Shape 4"/>
          <p:cNvSpPr/>
          <p:nvPr/>
        </p:nvSpPr>
        <p:spPr>
          <a:xfrm>
            <a:off x="658813" y="1554163"/>
            <a:ext cx="53975" cy="255587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7175" name="Text 5"/>
          <p:cNvSpPr txBox="1"/>
          <p:nvPr/>
        </p:nvSpPr>
        <p:spPr>
          <a:xfrm>
            <a:off x="804863" y="1517650"/>
            <a:ext cx="3062287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EXISTING PROBLEM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838" y="1901825"/>
            <a:ext cx="3062288" cy="4087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 delivery, enrollment, grading, and student communication are typically handled through fragmented, manual, or generic tools with no unified academic workflow.</a:t>
            </a:r>
            <a:endParaRPr lang="en-US" sz="1250" noProof="1" dirty="0"/>
          </a:p>
        </p:txBody>
      </p:sp>
      <p:sp>
        <p:nvSpPr>
          <p:cNvPr id="9" name="Shape 7"/>
          <p:cNvSpPr/>
          <p:nvPr/>
        </p:nvSpPr>
        <p:spPr>
          <a:xfrm>
            <a:off x="4251325" y="1371600"/>
            <a:ext cx="3613150" cy="480060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7178" name="Shape 8"/>
          <p:cNvSpPr/>
          <p:nvPr/>
        </p:nvSpPr>
        <p:spPr>
          <a:xfrm>
            <a:off x="4452938" y="1554163"/>
            <a:ext cx="55562" cy="255587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7179" name="Text 9"/>
          <p:cNvSpPr txBox="1"/>
          <p:nvPr/>
        </p:nvSpPr>
        <p:spPr>
          <a:xfrm>
            <a:off x="4598988" y="1517650"/>
            <a:ext cx="3063875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LIMITATIONS OF CURRENT APPROACH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25963" y="1901825"/>
            <a:ext cx="3063875" cy="4087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education-specific role hierarchy (Admin, Instructor, Content Creator, TA, Student, Guest), no built-in learning analytics, weak compliance (FERPA / accessibility), and no automated grading or academic integrity checks.</a:t>
            </a:r>
            <a:endParaRPr lang="en-US" sz="1250" noProof="1" dirty="0"/>
          </a:p>
        </p:txBody>
      </p:sp>
      <p:sp>
        <p:nvSpPr>
          <p:cNvPr id="13" name="Shape 11"/>
          <p:cNvSpPr/>
          <p:nvPr/>
        </p:nvSpPr>
        <p:spPr>
          <a:xfrm>
            <a:off x="8047038" y="1371600"/>
            <a:ext cx="3684588" cy="4800600"/>
          </a:xfrm>
          <a:prstGeom prst="roundRect">
            <a:avLst>
              <a:gd name="adj" fmla="val 198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7182" name="Shape 12"/>
          <p:cNvSpPr/>
          <p:nvPr/>
        </p:nvSpPr>
        <p:spPr>
          <a:xfrm>
            <a:off x="8248650" y="1554163"/>
            <a:ext cx="53975" cy="255587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7183" name="Text 13"/>
          <p:cNvSpPr txBox="1"/>
          <p:nvPr/>
        </p:nvSpPr>
        <p:spPr>
          <a:xfrm>
            <a:off x="8394700" y="1517650"/>
            <a:ext cx="3135313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WHY THIS PROJECT IS REQUIRED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21675" y="1901825"/>
            <a:ext cx="3135313" cy="4087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platform is needed that scales to 50,000+ users and 10,000+ courses, supports 2,000+ concurrent users, and bakes in JWT security, RBAC, and compliance from the ground up.</a:t>
            </a:r>
            <a:endParaRPr lang="en-US" sz="1250" noProof="1" dirty="0"/>
          </a:p>
        </p:txBody>
      </p:sp>
      <p:sp>
        <p:nvSpPr>
          <p:cNvPr id="7185" name="Text 15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7186" name="Text 16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02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9219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03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9220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Objectives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9221" name="Shape 3"/>
          <p:cNvSpPr/>
          <p:nvPr/>
        </p:nvSpPr>
        <p:spPr>
          <a:xfrm>
            <a:off x="457200" y="1371600"/>
            <a:ext cx="5394325" cy="4800600"/>
          </a:xfrm>
          <a:prstGeom prst="roundRect">
            <a:avLst>
              <a:gd name="adj" fmla="val 1523"/>
            </a:avLst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9222" name="Text 4"/>
          <p:cNvSpPr txBox="1"/>
          <p:nvPr/>
        </p:nvSpPr>
        <p:spPr>
          <a:xfrm>
            <a:off x="777875" y="1600200"/>
            <a:ext cx="4754563" cy="365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KEY OBJECTIVES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9223" name="Text 5"/>
          <p:cNvSpPr txBox="1"/>
          <p:nvPr/>
        </p:nvSpPr>
        <p:spPr>
          <a:xfrm>
            <a:off x="777875" y="2057400"/>
            <a:ext cx="4754563" cy="39322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marL="342900" indent="-342900">
              <a:spcAft>
                <a:spcPts val="1400"/>
              </a:spcAft>
              <a:buChar char="●"/>
            </a:pPr>
            <a:r>
              <a:rPr lang="en-US" altLang="zh-C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Build a secure JWT-based authentication and RBAC system for 6 user roles</a:t>
            </a:r>
            <a:endParaRPr lang="en-US" altLang="zh-CN" sz="14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1400"/>
              </a:spcAft>
              <a:buChar char="●"/>
            </a:pPr>
            <a:r>
              <a:rPr lang="en-US" altLang="zh-C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Enable complete CRUD course, content, and enrollment management</a:t>
            </a:r>
            <a:endParaRPr lang="en-US" altLang="zh-CN" sz="14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1400"/>
              </a:spcAft>
              <a:buChar char="●"/>
            </a:pPr>
            <a:r>
              <a:rPr lang="en-US" altLang="zh-C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Automate assessment creation, grading, and academic integrity checks</a:t>
            </a:r>
            <a:endParaRPr lang="en-US" altLang="zh-CN" sz="14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1400"/>
              </a:spcAft>
              <a:buChar char="●"/>
            </a:pPr>
            <a:r>
              <a:rPr lang="en-US" altLang="zh-C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Deliver real-time progress tracking and learning analytics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9224" name="Shape 6"/>
          <p:cNvSpPr/>
          <p:nvPr/>
        </p:nvSpPr>
        <p:spPr>
          <a:xfrm>
            <a:off x="6308725" y="1371600"/>
            <a:ext cx="5422900" cy="4800600"/>
          </a:xfrm>
          <a:prstGeom prst="roundRect">
            <a:avLst>
              <a:gd name="adj" fmla="val 1523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9225" name="Text 7"/>
          <p:cNvSpPr txBox="1"/>
          <p:nvPr/>
        </p:nvSpPr>
        <p:spPr>
          <a:xfrm>
            <a:off x="6629400" y="1600200"/>
            <a:ext cx="4754563" cy="365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EXPECTED OUTCOMES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9226" name="Text 8"/>
          <p:cNvSpPr txBox="1"/>
          <p:nvPr/>
        </p:nvSpPr>
        <p:spPr>
          <a:xfrm>
            <a:off x="6629400" y="2057400"/>
            <a:ext cx="4754563" cy="39322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marL="342900" indent="-342900">
              <a:spcAft>
                <a:spcPts val="1400"/>
              </a:spcAft>
              <a:buChar char="●"/>
            </a:pPr>
            <a:r>
              <a:rPr lang="en-US" altLang="zh-CN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99.9% uptime with sub-second authentication and grading response times</a:t>
            </a:r>
            <a:endParaRPr lang="en-US" altLang="zh-CN" sz="14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1400"/>
              </a:spcAft>
              <a:buChar char="●"/>
            </a:pPr>
            <a:r>
              <a:rPr lang="en-US" altLang="zh-CN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Platform scaling to 50,000+ users and 10,000+ courses</a:t>
            </a:r>
            <a:endParaRPr lang="en-US" altLang="zh-CN" sz="14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1400"/>
              </a:spcAft>
              <a:buChar char="●"/>
            </a:pPr>
            <a:r>
              <a:rPr lang="en-US" altLang="zh-CN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Full FERPA and WCAG 2.1 accessibility compliance</a:t>
            </a:r>
            <a:endParaRPr lang="en-US" altLang="zh-CN" sz="14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1400"/>
              </a:spcAft>
              <a:buChar char="●"/>
            </a:pPr>
            <a:r>
              <a:rPr lang="en-US" altLang="zh-CN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Minimum 85% automated test coverage across backend and frontend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9227" name="Text 9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9228" name="Text 10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03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1267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04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1268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Proposed Solution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1269" name="Text 3"/>
          <p:cNvSpPr txBox="1"/>
          <p:nvPr/>
        </p:nvSpPr>
        <p:spPr>
          <a:xfrm>
            <a:off x="457200" y="1371600"/>
            <a:ext cx="5394325" cy="320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HOW IT WORKS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1270" name="Text 4"/>
          <p:cNvSpPr txBox="1"/>
          <p:nvPr/>
        </p:nvSpPr>
        <p:spPr>
          <a:xfrm>
            <a:off x="457200" y="1692275"/>
            <a:ext cx="5394325" cy="17367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>
              <a:lnSpc>
                <a:spcPct val="120000"/>
              </a:lnSpc>
            </a:pPr>
            <a:r>
              <a:rPr lang="en-US" altLang="zh-CN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 Spring Boot + Spring Security backend exposes JWT-secured REST APIs consumed by a React.js frontend. Role-based dashboards route each of the six user types to the course, content, assessment, and analytics tools they're permitted to use.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1271" name="Text 5"/>
          <p:cNvSpPr txBox="1"/>
          <p:nvPr/>
        </p:nvSpPr>
        <p:spPr>
          <a:xfrm>
            <a:off x="457200" y="3521075"/>
            <a:ext cx="5394325" cy="3190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WHY THIS SOLVES THE PROBLEM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1272" name="Text 6"/>
          <p:cNvSpPr txBox="1"/>
          <p:nvPr/>
        </p:nvSpPr>
        <p:spPr>
          <a:xfrm>
            <a:off x="457200" y="3840163"/>
            <a:ext cx="5394325" cy="21955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>
              <a:lnSpc>
                <a:spcPct val="120000"/>
              </a:lnSpc>
            </a:pPr>
            <a:r>
              <a:rPr lang="en-US" altLang="zh-CN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It replaces fragmented manual processes with one compliant, auditable platform — automated grading and real-time analytics cut instructor workload while RBAC and encryption protect academic data.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1273" name="Shape 7"/>
          <p:cNvSpPr/>
          <p:nvPr/>
        </p:nvSpPr>
        <p:spPr>
          <a:xfrm>
            <a:off x="6308725" y="1371600"/>
            <a:ext cx="5422900" cy="4800600"/>
          </a:xfrm>
          <a:prstGeom prst="roundRect">
            <a:avLst>
              <a:gd name="adj" fmla="val 1523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1274" name="Text 8"/>
          <p:cNvSpPr txBox="1"/>
          <p:nvPr/>
        </p:nvSpPr>
        <p:spPr>
          <a:xfrm>
            <a:off x="6629400" y="1600200"/>
            <a:ext cx="4754563" cy="365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MAJOR FEATURES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29400" y="2103438"/>
            <a:ext cx="4754563" cy="3840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fontAlgn="auto">
              <a:spcAft>
                <a:spcPts val="1600"/>
              </a:spcAft>
              <a:buSzPct val="100000"/>
              <a:buChar char="●"/>
            </a:pPr>
            <a:r>
              <a:rPr lang="en-US" sz="14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 across 6 user types</a:t>
            </a:r>
            <a:endParaRPr lang="en-US" sz="1450" noProof="1" dirty="0"/>
          </a:p>
          <a:p>
            <a:pPr marL="342900" indent="-342900" fontAlgn="auto">
              <a:spcAft>
                <a:spcPts val="1600"/>
              </a:spcAft>
              <a:buSzPct val="100000"/>
              <a:buChar char="●"/>
            </a:pPr>
            <a:r>
              <a:rPr lang="en-US" sz="14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 &amp; content management with versioning</a:t>
            </a:r>
            <a:endParaRPr lang="en-US" sz="1450" noProof="1" dirty="0"/>
          </a:p>
          <a:p>
            <a:pPr marL="342900" indent="-342900" fontAlgn="auto">
              <a:spcAft>
                <a:spcPts val="1600"/>
              </a:spcAft>
              <a:buSzPct val="100000"/>
              <a:buChar char="●"/>
            </a:pPr>
            <a:r>
              <a:rPr lang="en-US" sz="14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 engine with automated grading</a:t>
            </a:r>
            <a:endParaRPr lang="en-US" sz="1450" noProof="1" dirty="0"/>
          </a:p>
          <a:p>
            <a:pPr marL="342900" indent="-342900" fontAlgn="auto">
              <a:spcAft>
                <a:spcPts val="1600"/>
              </a:spcAft>
              <a:buSzPct val="100000"/>
              <a:buChar char="●"/>
            </a:pPr>
            <a:r>
              <a:rPr lang="en-US" sz="14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tracking &amp; predictive analytics</a:t>
            </a:r>
            <a:endParaRPr lang="en-US" sz="1450" noProof="1" dirty="0"/>
          </a:p>
          <a:p>
            <a:pPr marL="342900" indent="-342900" fontAlgn="auto">
              <a:spcAft>
                <a:spcPts val="1600"/>
              </a:spcAft>
              <a:buSzPct val="100000"/>
              <a:buChar char="●"/>
            </a:pPr>
            <a:r>
              <a:rPr lang="en-US" sz="14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&amp; collaboration tools</a:t>
            </a:r>
            <a:endParaRPr lang="en-US" sz="1450" noProof="1" dirty="0"/>
          </a:p>
        </p:txBody>
      </p:sp>
      <p:sp>
        <p:nvSpPr>
          <p:cNvPr id="11276" name="Text 10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1277" name="Text 11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04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3315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05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3316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Technology Stack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563" cy="230505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13318" name="Shape 4"/>
          <p:cNvSpPr/>
          <p:nvPr/>
        </p:nvSpPr>
        <p:spPr>
          <a:xfrm>
            <a:off x="658813" y="1554163"/>
            <a:ext cx="53975" cy="255587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3319" name="Text 5"/>
          <p:cNvSpPr txBox="1"/>
          <p:nvPr/>
        </p:nvSpPr>
        <p:spPr>
          <a:xfrm>
            <a:off x="804863" y="1517650"/>
            <a:ext cx="3062287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FRONTEND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838" y="1901825"/>
            <a:ext cx="3062288" cy="1590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React.js with protected routes, mobile-responsive design (port 8081)</a:t>
            </a:r>
            <a:endParaRPr lang="en-US" sz="1250" noProof="1" dirty="0"/>
          </a:p>
        </p:txBody>
      </p:sp>
      <p:sp>
        <p:nvSpPr>
          <p:cNvPr id="9" name="Shape 7"/>
          <p:cNvSpPr/>
          <p:nvPr/>
        </p:nvSpPr>
        <p:spPr>
          <a:xfrm>
            <a:off x="4206875" y="1371600"/>
            <a:ext cx="3611563" cy="230505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13322" name="Shape 8"/>
          <p:cNvSpPr/>
          <p:nvPr/>
        </p:nvSpPr>
        <p:spPr>
          <a:xfrm>
            <a:off x="4406900" y="1554163"/>
            <a:ext cx="55563" cy="255587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3323" name="Text 9"/>
          <p:cNvSpPr txBox="1"/>
          <p:nvPr/>
        </p:nvSpPr>
        <p:spPr>
          <a:xfrm>
            <a:off x="4552950" y="1517650"/>
            <a:ext cx="3063875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BACKEND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479925" y="1901825"/>
            <a:ext cx="3063875" cy="1590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3.x with Spring Security, Java 17+ (port 8080)</a:t>
            </a:r>
            <a:endParaRPr lang="en-US" sz="1250" noProof="1" dirty="0"/>
          </a:p>
        </p:txBody>
      </p:sp>
      <p:sp>
        <p:nvSpPr>
          <p:cNvPr id="13" name="Shape 11"/>
          <p:cNvSpPr/>
          <p:nvPr/>
        </p:nvSpPr>
        <p:spPr>
          <a:xfrm>
            <a:off x="7954963" y="1371600"/>
            <a:ext cx="3611563" cy="230505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13326" name="Shape 12"/>
          <p:cNvSpPr/>
          <p:nvPr/>
        </p:nvSpPr>
        <p:spPr>
          <a:xfrm>
            <a:off x="8156575" y="1554163"/>
            <a:ext cx="53975" cy="255587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3327" name="Text 13"/>
          <p:cNvSpPr txBox="1"/>
          <p:nvPr/>
        </p:nvSpPr>
        <p:spPr>
          <a:xfrm>
            <a:off x="8302625" y="1517650"/>
            <a:ext cx="3063875" cy="33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DATABASE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0" y="1901825"/>
            <a:ext cx="3063875" cy="1590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JPA-compatible relational database, database-agnostic design</a:t>
            </a:r>
            <a:endParaRPr lang="en-US" sz="1250" noProof="1" dirty="0"/>
          </a:p>
        </p:txBody>
      </p:sp>
      <p:sp>
        <p:nvSpPr>
          <p:cNvPr id="17" name="Shape 15"/>
          <p:cNvSpPr/>
          <p:nvPr/>
        </p:nvSpPr>
        <p:spPr>
          <a:xfrm>
            <a:off x="457200" y="3813175"/>
            <a:ext cx="3611563" cy="2303463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13330" name="Shape 16"/>
          <p:cNvSpPr/>
          <p:nvPr/>
        </p:nvSpPr>
        <p:spPr>
          <a:xfrm>
            <a:off x="658813" y="3995738"/>
            <a:ext cx="53975" cy="255587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3331" name="Text 17"/>
          <p:cNvSpPr txBox="1"/>
          <p:nvPr/>
        </p:nvSpPr>
        <p:spPr>
          <a:xfrm>
            <a:off x="804863" y="3959225"/>
            <a:ext cx="3062287" cy="32861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APIS / LIBRARIES / FRAMEWORKS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31838" y="4343400"/>
            <a:ext cx="3062288" cy="1590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Secured REST APIs, JWT authentication, WebSocket for real-time updates</a:t>
            </a:r>
            <a:endParaRPr lang="en-US" sz="1250" noProof="1" dirty="0"/>
          </a:p>
        </p:txBody>
      </p:sp>
      <p:sp>
        <p:nvSpPr>
          <p:cNvPr id="21" name="Shape 19"/>
          <p:cNvSpPr/>
          <p:nvPr/>
        </p:nvSpPr>
        <p:spPr>
          <a:xfrm>
            <a:off x="4206875" y="3813175"/>
            <a:ext cx="3611563" cy="2303463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13334" name="Shape 20"/>
          <p:cNvSpPr/>
          <p:nvPr/>
        </p:nvSpPr>
        <p:spPr>
          <a:xfrm>
            <a:off x="4406900" y="3995738"/>
            <a:ext cx="55563" cy="255587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3335" name="Text 21"/>
          <p:cNvSpPr txBox="1"/>
          <p:nvPr/>
        </p:nvSpPr>
        <p:spPr>
          <a:xfrm>
            <a:off x="4552950" y="3959225"/>
            <a:ext cx="3063875" cy="32861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DEVELOPMENT TOOLS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479925" y="4343400"/>
            <a:ext cx="3063875" cy="1590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JUnit (backend testing), React Testing Library (frontend testing), Docker</a:t>
            </a:r>
            <a:endParaRPr lang="en-US" sz="1250" noProof="1" dirty="0"/>
          </a:p>
        </p:txBody>
      </p:sp>
      <p:sp>
        <p:nvSpPr>
          <p:cNvPr id="25" name="Shape 23"/>
          <p:cNvSpPr/>
          <p:nvPr/>
        </p:nvSpPr>
        <p:spPr>
          <a:xfrm>
            <a:off x="7954963" y="3813175"/>
            <a:ext cx="3611563" cy="2303463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44444A">
                <a:alpha val="18000"/>
              </a:srgbClr>
            </a:outerShdw>
          </a:effectLst>
        </p:spPr>
      </p:sp>
      <p:sp>
        <p:nvSpPr>
          <p:cNvPr id="13338" name="Shape 24"/>
          <p:cNvSpPr/>
          <p:nvPr/>
        </p:nvSpPr>
        <p:spPr>
          <a:xfrm>
            <a:off x="8156575" y="3995738"/>
            <a:ext cx="53975" cy="255587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3339" name="Text 25"/>
          <p:cNvSpPr txBox="1"/>
          <p:nvPr/>
        </p:nvSpPr>
        <p:spPr>
          <a:xfrm>
            <a:off x="8302625" y="3959225"/>
            <a:ext cx="3063875" cy="32861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OTHER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229600" y="4343400"/>
            <a:ext cx="3063875" cy="1590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Cloud-ready (AWS / Azure / GCP), LTI &amp; SCORM integration support</a:t>
            </a:r>
            <a:endParaRPr lang="en-US" sz="1250" noProof="1" dirty="0"/>
          </a:p>
        </p:txBody>
      </p:sp>
      <p:sp>
        <p:nvSpPr>
          <p:cNvPr id="13341" name="Text 27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3342" name="Text 28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05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5363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06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5364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System Architecture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5365" name="Shape 3"/>
          <p:cNvSpPr/>
          <p:nvPr/>
        </p:nvSpPr>
        <p:spPr>
          <a:xfrm>
            <a:off x="457200" y="1417638"/>
            <a:ext cx="2697163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93725" y="1536700"/>
            <a:ext cx="2424113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350" b="1" noProof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350" noProof="1" dirty="0"/>
          </a:p>
        </p:txBody>
      </p:sp>
      <p:sp>
        <p:nvSpPr>
          <p:cNvPr id="7" name="Text 5"/>
          <p:cNvSpPr txBox="1"/>
          <p:nvPr/>
        </p:nvSpPr>
        <p:spPr>
          <a:xfrm>
            <a:off x="593725" y="1920875"/>
            <a:ext cx="2424113" cy="82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lnSpc>
                <a:spcPct val="110000"/>
              </a:lnSpc>
              <a:buNone/>
            </a:pPr>
            <a:r>
              <a:rPr lang="en-US" sz="1050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React.js SPA · role-based dashboards</a:t>
            </a:r>
            <a:endParaRPr lang="en-US" sz="1050" noProof="1" dirty="0"/>
          </a:p>
        </p:txBody>
      </p:sp>
      <p:sp>
        <p:nvSpPr>
          <p:cNvPr id="15368" name="Text 6"/>
          <p:cNvSpPr txBox="1"/>
          <p:nvPr/>
        </p:nvSpPr>
        <p:spPr>
          <a:xfrm>
            <a:off x="3154363" y="1417638"/>
            <a:ext cx="14605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000" b="1" dirty="0">
                <a:solidFill>
                  <a:srgbClr val="F2A93B"/>
                </a:solidFill>
                <a:latin typeface="Calibri" panose="020F0502020204030204" pitchFamily="34" charset="0"/>
                <a:ea typeface="+mn-ea"/>
                <a:cs typeface="等线" charset="0"/>
              </a:rPr>
              <a:t>→</a:t>
            </a:r>
            <a:endParaRPr lang="en-US" altLang="zh-CN" sz="2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5369" name="Shape 7"/>
          <p:cNvSpPr/>
          <p:nvPr/>
        </p:nvSpPr>
        <p:spPr>
          <a:xfrm>
            <a:off x="3300413" y="1417638"/>
            <a:ext cx="2698750" cy="1371600"/>
          </a:xfrm>
          <a:prstGeom prst="roundRect">
            <a:avLst>
              <a:gd name="adj" fmla="val 5333"/>
            </a:avLst>
          </a:prstGeom>
          <a:solidFill>
            <a:srgbClr val="2E3B8F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38525" y="1536700"/>
            <a:ext cx="2422525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350" b="1" noProof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350" noProof="1" dirty="0"/>
          </a:p>
        </p:txBody>
      </p:sp>
      <p:sp>
        <p:nvSpPr>
          <p:cNvPr id="11" name="Text 9"/>
          <p:cNvSpPr txBox="1"/>
          <p:nvPr/>
        </p:nvSpPr>
        <p:spPr>
          <a:xfrm>
            <a:off x="3438525" y="1920875"/>
            <a:ext cx="2422525" cy="82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lnSpc>
                <a:spcPct val="110000"/>
              </a:lnSpc>
              <a:buNone/>
            </a:pPr>
            <a:r>
              <a:rPr lang="en-US" sz="1050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REST API · Spring Security (JWT)</a:t>
            </a:r>
            <a:endParaRPr lang="en-US" sz="1050" noProof="1" dirty="0"/>
          </a:p>
        </p:txBody>
      </p:sp>
      <p:sp>
        <p:nvSpPr>
          <p:cNvPr id="15372" name="Text 10"/>
          <p:cNvSpPr txBox="1"/>
          <p:nvPr/>
        </p:nvSpPr>
        <p:spPr>
          <a:xfrm>
            <a:off x="5999163" y="1417638"/>
            <a:ext cx="14605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000" b="1" dirty="0">
                <a:solidFill>
                  <a:srgbClr val="F2A93B"/>
                </a:solidFill>
                <a:latin typeface="Calibri" panose="020F0502020204030204" pitchFamily="34" charset="0"/>
                <a:ea typeface="+mn-ea"/>
                <a:cs typeface="等线" charset="0"/>
              </a:rPr>
              <a:t>→</a:t>
            </a:r>
            <a:endParaRPr lang="en-US" altLang="zh-CN" sz="2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5373" name="Shape 11"/>
          <p:cNvSpPr/>
          <p:nvPr/>
        </p:nvSpPr>
        <p:spPr>
          <a:xfrm>
            <a:off x="6145213" y="1417638"/>
            <a:ext cx="269716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81738" y="1536700"/>
            <a:ext cx="2424113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350" b="1" noProof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350" noProof="1" dirty="0"/>
          </a:p>
        </p:txBody>
      </p:sp>
      <p:sp>
        <p:nvSpPr>
          <p:cNvPr id="15" name="Text 13"/>
          <p:cNvSpPr txBox="1"/>
          <p:nvPr/>
        </p:nvSpPr>
        <p:spPr>
          <a:xfrm>
            <a:off x="6281738" y="1920875"/>
            <a:ext cx="2424113" cy="82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lnSpc>
                <a:spcPct val="110000"/>
              </a:lnSpc>
              <a:buNone/>
            </a:pPr>
            <a:r>
              <a:rPr lang="en-US" sz="1050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JPA / relational store · Users, Courses, Enrollments, Assessments</a:t>
            </a:r>
            <a:endParaRPr lang="en-US" sz="1050" noProof="1" dirty="0"/>
          </a:p>
        </p:txBody>
      </p:sp>
      <p:sp>
        <p:nvSpPr>
          <p:cNvPr id="15376" name="Text 14"/>
          <p:cNvSpPr txBox="1"/>
          <p:nvPr/>
        </p:nvSpPr>
        <p:spPr>
          <a:xfrm>
            <a:off x="8842375" y="1417638"/>
            <a:ext cx="14605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000" b="1" dirty="0">
                <a:solidFill>
                  <a:srgbClr val="F2A93B"/>
                </a:solidFill>
                <a:latin typeface="Calibri" panose="020F0502020204030204" pitchFamily="34" charset="0"/>
                <a:ea typeface="+mn-ea"/>
                <a:cs typeface="等线" charset="0"/>
              </a:rPr>
              <a:t>→</a:t>
            </a:r>
            <a:endParaRPr lang="en-US" altLang="zh-CN" sz="2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5377" name="Shape 15"/>
          <p:cNvSpPr/>
          <p:nvPr/>
        </p:nvSpPr>
        <p:spPr>
          <a:xfrm>
            <a:off x="8988425" y="1417638"/>
            <a:ext cx="2697163" cy="1371600"/>
          </a:xfrm>
          <a:prstGeom prst="roundRect">
            <a:avLst>
              <a:gd name="adj" fmla="val 5333"/>
            </a:avLst>
          </a:prstGeom>
          <a:solidFill>
            <a:srgbClr val="2E3B8F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124950" y="1536700"/>
            <a:ext cx="2424113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350" b="1" noProof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Services</a:t>
            </a:r>
            <a:endParaRPr lang="en-US" sz="1350" noProof="1" dirty="0"/>
          </a:p>
        </p:txBody>
      </p:sp>
      <p:sp>
        <p:nvSpPr>
          <p:cNvPr id="19" name="Text 17"/>
          <p:cNvSpPr txBox="1"/>
          <p:nvPr/>
        </p:nvSpPr>
        <p:spPr>
          <a:xfrm>
            <a:off x="9124950" y="1920875"/>
            <a:ext cx="2424113" cy="82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lnSpc>
                <a:spcPct val="110000"/>
              </a:lnSpc>
              <a:buNone/>
            </a:pPr>
            <a:r>
              <a:rPr lang="en-US" sz="1050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· Zoom / Teams · Drive / OneDrive · plagiarism check · LTI / SCORM</a:t>
            </a:r>
            <a:endParaRPr lang="en-US" sz="1050" noProof="1" dirty="0"/>
          </a:p>
        </p:txBody>
      </p:sp>
      <p:sp>
        <p:nvSpPr>
          <p:cNvPr id="15380" name="Shape 18"/>
          <p:cNvSpPr/>
          <p:nvPr/>
        </p:nvSpPr>
        <p:spPr>
          <a:xfrm>
            <a:off x="457200" y="3108325"/>
            <a:ext cx="11274425" cy="3017838"/>
          </a:xfrm>
          <a:prstGeom prst="roundRect">
            <a:avLst>
              <a:gd name="adj" fmla="val 2426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5381" name="Shape 19"/>
          <p:cNvSpPr/>
          <p:nvPr/>
        </p:nvSpPr>
        <p:spPr>
          <a:xfrm>
            <a:off x="658813" y="3292475"/>
            <a:ext cx="53975" cy="255588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5382" name="Text 20"/>
          <p:cNvSpPr txBox="1"/>
          <p:nvPr/>
        </p:nvSpPr>
        <p:spPr>
          <a:xfrm>
            <a:off x="804863" y="3255963"/>
            <a:ext cx="7315200" cy="3286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DATA FLOW DESCRIPTION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04863" y="3657600"/>
            <a:ext cx="10698163" cy="2378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spcAft>
                <a:spcPts val="1000"/>
              </a:spcAft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User authenticates through the React frontend; credentials are validated and a JWT is issued.</a:t>
            </a:r>
            <a:endParaRPr lang="en-US" sz="1250" noProof="1" dirty="0"/>
          </a:p>
          <a:p>
            <a:pPr fontAlgn="auto">
              <a:spcAft>
                <a:spcPts val="1000"/>
              </a:spcAft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The frontend attaches the JWT to every REST request sent to the Spring Boot backend.</a:t>
            </a:r>
            <a:endParaRPr lang="en-US" sz="1250" noProof="1" dirty="0"/>
          </a:p>
          <a:p>
            <a:pPr fontAlgn="auto">
              <a:spcAft>
                <a:spcPts val="1000"/>
              </a:spcAft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Spring Security validates the token and enforces role-based access control for the requested operation.</a:t>
            </a:r>
            <a:endParaRPr lang="en-US" sz="1250" noProof="1" dirty="0"/>
          </a:p>
          <a:p>
            <a:pPr fontAlgn="auto">
              <a:spcAft>
                <a:spcPts val="1000"/>
              </a:spcAft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Authorized requests hit JPA repositories, which read/write course, enrollment, and assessment data.</a:t>
            </a:r>
            <a:endParaRPr lang="en-US" sz="1250" noProof="1" dirty="0"/>
          </a:p>
          <a:p>
            <a:pPr fontAlgn="auto"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Responses return as JSON; WebSocket connections push real-time notifications and live updates back to the client.</a:t>
            </a:r>
            <a:endParaRPr lang="en-US" sz="1250" noProof="1" dirty="0"/>
          </a:p>
        </p:txBody>
      </p:sp>
      <p:sp>
        <p:nvSpPr>
          <p:cNvPr id="15384" name="Text 22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5385" name="Text 23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06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7411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07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7412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Modules / Features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graphicFrame>
        <p:nvGraphicFramePr>
          <p:cNvPr id="17413" name="Table 17412"/>
          <p:cNvGraphicFramePr/>
          <p:nvPr/>
        </p:nvGraphicFramePr>
        <p:xfrm>
          <a:off x="457200" y="1417638"/>
          <a:ext cx="11274425" cy="4754562"/>
        </p:xfrm>
        <a:graphic>
          <a:graphicData uri="http://schemas.openxmlformats.org/drawingml/2006/table">
            <a:tbl>
              <a:tblPr/>
              <a:tblGrid>
                <a:gridCol w="4114800"/>
                <a:gridCol w="7159625"/>
              </a:tblGrid>
              <a:tr h="593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Module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Purpose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Authentication &amp; Account Management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Secure registration, login, and JWT-based session management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Role-Based Access Control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Enforce permissions across Admin, Instructor, Content Creator, TA, Student, Guest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95312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Course &amp; Content Management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Create, structure, and version courses and multimedia learning content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Assessment &amp; Evaluation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Build quizzes/assignments, automate grading, ensure academic integrity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Progress &amp; Analytics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Track learning progress and surface predictive, at-risk insights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Communication &amp; Collaboration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Discussions, messaging, announcements, and video conferencing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Administrative &amp; Reporting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User/course administration and institutional compliance reporting</a:t>
                      </a:r>
                      <a:endParaRPr lang="en-US" altLang="zh-CN" sz="13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42" name="Shape 3"/>
          <p:cNvSpPr/>
          <p:nvPr/>
        </p:nvSpPr>
        <p:spPr>
          <a:xfrm>
            <a:off x="457200" y="1417638"/>
            <a:ext cx="11274425" cy="593725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93725" y="1417638"/>
            <a:ext cx="3978275" cy="593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3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</a:t>
            </a:r>
            <a:endParaRPr lang="en-US" sz="1350" noProof="1" dirty="0"/>
          </a:p>
        </p:txBody>
      </p:sp>
      <p:sp>
        <p:nvSpPr>
          <p:cNvPr id="8" name="Text 5"/>
          <p:cNvSpPr txBox="1"/>
          <p:nvPr/>
        </p:nvSpPr>
        <p:spPr>
          <a:xfrm>
            <a:off x="4708525" y="1417638"/>
            <a:ext cx="6858000" cy="593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3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1350" noProof="1" dirty="0"/>
          </a:p>
        </p:txBody>
      </p:sp>
      <p:sp>
        <p:nvSpPr>
          <p:cNvPr id="17445" name="Text 6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7446" name="Text 7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07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9459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08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60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Database / Data Model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61" name="Shape 3"/>
          <p:cNvSpPr/>
          <p:nvPr/>
        </p:nvSpPr>
        <p:spPr>
          <a:xfrm>
            <a:off x="457200" y="1417638"/>
            <a:ext cx="3611563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 cap="flat" cmpd="sng">
            <a:solidFill>
              <a:srgbClr val="1E276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9462" name="Shape 4"/>
          <p:cNvSpPr/>
          <p:nvPr/>
        </p:nvSpPr>
        <p:spPr>
          <a:xfrm>
            <a:off x="457200" y="1417638"/>
            <a:ext cx="3611563" cy="457200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9463" name="Text 5"/>
          <p:cNvSpPr txBox="1"/>
          <p:nvPr/>
        </p:nvSpPr>
        <p:spPr>
          <a:xfrm>
            <a:off x="457200" y="1417638"/>
            <a:ext cx="3611563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Users</a:t>
            </a:r>
            <a:endParaRPr lang="en-US" altLang="zh-CN" sz="15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64" name="Text 6"/>
          <p:cNvSpPr txBox="1"/>
          <p:nvPr/>
        </p:nvSpPr>
        <p:spPr>
          <a:xfrm>
            <a:off x="731838" y="2011363"/>
            <a:ext cx="3062287" cy="20113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id (PK)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username, email, role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studentId, institutionId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department, isActive</a:t>
            </a:r>
            <a:endParaRPr lang="en-US" altLang="zh-CN" sz="1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65" name="Shape 7"/>
          <p:cNvSpPr/>
          <p:nvPr/>
        </p:nvSpPr>
        <p:spPr>
          <a:xfrm>
            <a:off x="4206875" y="1417638"/>
            <a:ext cx="3611563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 cap="flat" cmpd="sng">
            <a:solidFill>
              <a:srgbClr val="1E276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9466" name="Shape 8"/>
          <p:cNvSpPr/>
          <p:nvPr/>
        </p:nvSpPr>
        <p:spPr>
          <a:xfrm>
            <a:off x="4206875" y="1417638"/>
            <a:ext cx="3611563" cy="457200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9467" name="Text 9"/>
          <p:cNvSpPr txBox="1"/>
          <p:nvPr/>
        </p:nvSpPr>
        <p:spPr>
          <a:xfrm>
            <a:off x="4206875" y="1417638"/>
            <a:ext cx="3611563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Courses</a:t>
            </a:r>
            <a:endParaRPr lang="en-US" altLang="zh-CN" sz="15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68" name="Text 10"/>
          <p:cNvSpPr txBox="1"/>
          <p:nvPr/>
        </p:nvSpPr>
        <p:spPr>
          <a:xfrm>
            <a:off x="4479925" y="2011363"/>
            <a:ext cx="3063875" cy="20113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id (PK)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courseCode, title, credits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instructorId (FK → Users)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status, maxEnrollment</a:t>
            </a:r>
            <a:endParaRPr lang="en-US" altLang="zh-CN" sz="1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69" name="Shape 11"/>
          <p:cNvSpPr/>
          <p:nvPr/>
        </p:nvSpPr>
        <p:spPr>
          <a:xfrm>
            <a:off x="7954963" y="1417638"/>
            <a:ext cx="3611562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 cap="flat" cmpd="sng">
            <a:solidFill>
              <a:srgbClr val="1E276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9470" name="Shape 12"/>
          <p:cNvSpPr/>
          <p:nvPr/>
        </p:nvSpPr>
        <p:spPr>
          <a:xfrm>
            <a:off x="7954963" y="1417638"/>
            <a:ext cx="3611562" cy="457200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9471" name="Text 13"/>
          <p:cNvSpPr txBox="1"/>
          <p:nvPr/>
        </p:nvSpPr>
        <p:spPr>
          <a:xfrm>
            <a:off x="7954963" y="1417638"/>
            <a:ext cx="3611562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Enrollments</a:t>
            </a:r>
            <a:endParaRPr lang="en-US" altLang="zh-CN" sz="15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72" name="Text 14"/>
          <p:cNvSpPr txBox="1"/>
          <p:nvPr/>
        </p:nvSpPr>
        <p:spPr>
          <a:xfrm>
            <a:off x="8229600" y="2011363"/>
            <a:ext cx="3063875" cy="20113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id (PK)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courseId, studentId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enrollmentDate, status</a:t>
            </a:r>
            <a:endParaRPr lang="en-US" altLang="zh-CN" sz="12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800"/>
              </a:spcAft>
              <a:buChar char="•"/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grade, completionDate</a:t>
            </a:r>
            <a:endParaRPr lang="en-US" altLang="zh-CN" sz="1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73" name="Shape 15"/>
          <p:cNvSpPr/>
          <p:nvPr/>
        </p:nvSpPr>
        <p:spPr>
          <a:xfrm>
            <a:off x="457200" y="4389438"/>
            <a:ext cx="11274425" cy="1736725"/>
          </a:xfrm>
          <a:prstGeom prst="roundRect">
            <a:avLst>
              <a:gd name="adj" fmla="val 4213"/>
            </a:avLst>
          </a:prstGeom>
          <a:solidFill>
            <a:srgbClr val="2E3B8F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9474" name="Text 16"/>
          <p:cNvSpPr txBox="1"/>
          <p:nvPr/>
        </p:nvSpPr>
        <p:spPr>
          <a:xfrm>
            <a:off x="685800" y="4525963"/>
            <a:ext cx="5486400" cy="320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3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KEY RELATIONSHIPS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85800" y="4892675"/>
            <a:ext cx="10790238" cy="1187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lnSpc>
                <a:spcPct val="120000"/>
              </a:lnSpc>
              <a:buNone/>
            </a:pPr>
            <a:r>
              <a:rPr lang="en-US" sz="1250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(instructors) create Courses; Students enroll via Enrollments, linking Users ↔ Courses. Each Course owns CourseContent, Assessments, and Discussions. Assessments produce AssessmentSubmissions and Grades; DiscussionPosts thread under Discussions; Notifications reference the owning User and Course.</a:t>
            </a:r>
            <a:endParaRPr lang="en-US" sz="1250" noProof="1" dirty="0"/>
          </a:p>
        </p:txBody>
      </p:sp>
      <p:sp>
        <p:nvSpPr>
          <p:cNvPr id="19476" name="Text 18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477" name="Text 19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08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1507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09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08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Application Workflow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09" name="Shape 3"/>
          <p:cNvSpPr/>
          <p:nvPr/>
        </p:nvSpPr>
        <p:spPr>
          <a:xfrm>
            <a:off x="457200" y="2378075"/>
            <a:ext cx="1689100" cy="1371600"/>
          </a:xfrm>
          <a:prstGeom prst="ellipse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1510" name="Text 4"/>
          <p:cNvSpPr txBox="1"/>
          <p:nvPr/>
        </p:nvSpPr>
        <p:spPr>
          <a:xfrm>
            <a:off x="530225" y="2378075"/>
            <a:ext cx="154305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Start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11" name="Text 5"/>
          <p:cNvSpPr txBox="1"/>
          <p:nvPr/>
        </p:nvSpPr>
        <p:spPr>
          <a:xfrm>
            <a:off x="2146300" y="2378075"/>
            <a:ext cx="22860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600" b="1" dirty="0">
                <a:solidFill>
                  <a:srgbClr val="6B7280"/>
                </a:solidFill>
                <a:latin typeface="Calibri" panose="020F0502020204030204" pitchFamily="34" charset="0"/>
                <a:ea typeface="+mn-ea"/>
                <a:cs typeface="等线" charset="0"/>
              </a:rPr>
              <a:t>→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12" name="Shape 6"/>
          <p:cNvSpPr/>
          <p:nvPr/>
        </p:nvSpPr>
        <p:spPr>
          <a:xfrm>
            <a:off x="2374900" y="2378075"/>
            <a:ext cx="1687513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447925" y="2378075"/>
            <a:ext cx="1541463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fontAlgn="auto">
              <a:buNone/>
            </a:pPr>
            <a:r>
              <a:rPr lang="en-US" sz="11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</a:t>
            </a:r>
            <a:endParaRPr lang="en-US" sz="1150" noProof="1" dirty="0"/>
          </a:p>
          <a:p>
            <a:pPr algn="ctr" fontAlgn="auto">
              <a:buNone/>
            </a:pPr>
            <a:r>
              <a:rPr lang="en-US" sz="11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(JWT issued)</a:t>
            </a:r>
            <a:endParaRPr lang="en-US" sz="1150" noProof="1" dirty="0"/>
          </a:p>
        </p:txBody>
      </p:sp>
      <p:sp>
        <p:nvSpPr>
          <p:cNvPr id="21514" name="Text 8"/>
          <p:cNvSpPr txBox="1"/>
          <p:nvPr/>
        </p:nvSpPr>
        <p:spPr>
          <a:xfrm>
            <a:off x="4062413" y="2378075"/>
            <a:ext cx="22860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600" b="1" dirty="0">
                <a:solidFill>
                  <a:srgbClr val="6B7280"/>
                </a:solidFill>
                <a:latin typeface="Calibri" panose="020F0502020204030204" pitchFamily="34" charset="0"/>
                <a:ea typeface="+mn-ea"/>
                <a:cs typeface="等线" charset="0"/>
              </a:rPr>
              <a:t>→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15" name="Shape 9"/>
          <p:cNvSpPr/>
          <p:nvPr/>
        </p:nvSpPr>
        <p:spPr>
          <a:xfrm>
            <a:off x="4291013" y="2378075"/>
            <a:ext cx="16891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364038" y="2378075"/>
            <a:ext cx="154305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fontAlgn="auto">
              <a:buNone/>
            </a:pPr>
            <a:r>
              <a:rPr lang="en-US" sz="11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&amp; Enroll</a:t>
            </a:r>
            <a:endParaRPr lang="en-US" sz="1150" noProof="1" dirty="0"/>
          </a:p>
          <a:p>
            <a:pPr algn="ctr" fontAlgn="auto">
              <a:buNone/>
            </a:pPr>
            <a:r>
              <a:rPr lang="en-US" sz="11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 Course</a:t>
            </a:r>
            <a:endParaRPr lang="en-US" sz="1150" noProof="1" dirty="0"/>
          </a:p>
        </p:txBody>
      </p:sp>
      <p:sp>
        <p:nvSpPr>
          <p:cNvPr id="21517" name="Text 11"/>
          <p:cNvSpPr txBox="1"/>
          <p:nvPr/>
        </p:nvSpPr>
        <p:spPr>
          <a:xfrm>
            <a:off x="5980113" y="2378075"/>
            <a:ext cx="22860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600" b="1" dirty="0">
                <a:solidFill>
                  <a:srgbClr val="6B7280"/>
                </a:solidFill>
                <a:latin typeface="Calibri" panose="020F0502020204030204" pitchFamily="34" charset="0"/>
                <a:ea typeface="+mn-ea"/>
                <a:cs typeface="等线" charset="0"/>
              </a:rPr>
              <a:t>→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18" name="Shape 12"/>
          <p:cNvSpPr/>
          <p:nvPr/>
        </p:nvSpPr>
        <p:spPr>
          <a:xfrm>
            <a:off x="6208713" y="2378075"/>
            <a:ext cx="16891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281738" y="2378075"/>
            <a:ext cx="154305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fontAlgn="auto">
              <a:buNone/>
            </a:pPr>
            <a:r>
              <a:rPr lang="en-US" sz="11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Content /</a:t>
            </a:r>
            <a:endParaRPr lang="en-US" sz="1150" noProof="1" dirty="0"/>
          </a:p>
          <a:p>
            <a:pPr algn="ctr" fontAlgn="auto">
              <a:buNone/>
            </a:pPr>
            <a:r>
              <a:rPr lang="en-US" sz="11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Assessment</a:t>
            </a:r>
            <a:endParaRPr lang="en-US" sz="1150" noProof="1" dirty="0"/>
          </a:p>
        </p:txBody>
      </p:sp>
      <p:sp>
        <p:nvSpPr>
          <p:cNvPr id="21520" name="Text 14"/>
          <p:cNvSpPr txBox="1"/>
          <p:nvPr/>
        </p:nvSpPr>
        <p:spPr>
          <a:xfrm>
            <a:off x="7897813" y="2378075"/>
            <a:ext cx="22860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600" b="1" dirty="0">
                <a:solidFill>
                  <a:srgbClr val="6B7280"/>
                </a:solidFill>
                <a:latin typeface="Calibri" panose="020F0502020204030204" pitchFamily="34" charset="0"/>
                <a:ea typeface="+mn-ea"/>
                <a:cs typeface="等线" charset="0"/>
              </a:rPr>
              <a:t>→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21" name="Shape 15"/>
          <p:cNvSpPr/>
          <p:nvPr/>
        </p:nvSpPr>
        <p:spPr>
          <a:xfrm>
            <a:off x="8126413" y="2378075"/>
            <a:ext cx="168751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199438" y="2378075"/>
            <a:ext cx="1541463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fontAlgn="auto">
              <a:buNone/>
            </a:pPr>
            <a:r>
              <a:rPr lang="en-US" sz="11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Progress</a:t>
            </a:r>
            <a:endParaRPr lang="en-US" sz="1150" noProof="1" dirty="0"/>
          </a:p>
          <a:p>
            <a:pPr algn="ctr" fontAlgn="auto">
              <a:buNone/>
            </a:pPr>
            <a:r>
              <a:rPr lang="en-US" sz="11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Dashboard</a:t>
            </a:r>
            <a:endParaRPr lang="en-US" sz="1150" noProof="1" dirty="0"/>
          </a:p>
        </p:txBody>
      </p:sp>
      <p:sp>
        <p:nvSpPr>
          <p:cNvPr id="21523" name="Text 17"/>
          <p:cNvSpPr txBox="1"/>
          <p:nvPr/>
        </p:nvSpPr>
        <p:spPr>
          <a:xfrm>
            <a:off x="9813925" y="2378075"/>
            <a:ext cx="22860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600" b="1" dirty="0">
                <a:solidFill>
                  <a:srgbClr val="6B7280"/>
                </a:solidFill>
                <a:latin typeface="Calibri" panose="020F0502020204030204" pitchFamily="34" charset="0"/>
                <a:ea typeface="+mn-ea"/>
                <a:cs typeface="等线" charset="0"/>
              </a:rPr>
              <a:t>→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24" name="Shape 18"/>
          <p:cNvSpPr/>
          <p:nvPr/>
        </p:nvSpPr>
        <p:spPr>
          <a:xfrm>
            <a:off x="10042525" y="2378075"/>
            <a:ext cx="1689100" cy="1371600"/>
          </a:xfrm>
          <a:prstGeom prst="ellipse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1525" name="Text 19"/>
          <p:cNvSpPr txBox="1"/>
          <p:nvPr/>
        </p:nvSpPr>
        <p:spPr>
          <a:xfrm>
            <a:off x="10115550" y="2378075"/>
            <a:ext cx="1543050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End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26" name="Shape 20"/>
          <p:cNvSpPr/>
          <p:nvPr/>
        </p:nvSpPr>
        <p:spPr>
          <a:xfrm>
            <a:off x="457200" y="4206875"/>
            <a:ext cx="11274425" cy="1919288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1527" name="Text 21"/>
          <p:cNvSpPr txBox="1"/>
          <p:nvPr/>
        </p:nvSpPr>
        <p:spPr>
          <a:xfrm>
            <a:off x="777875" y="4389438"/>
            <a:ext cx="10606088" cy="15541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>
              <a:lnSpc>
                <a:spcPct val="125000"/>
              </a:lnSpc>
            </a:pPr>
            <a:r>
              <a:rPr lang="en-US" altLang="zh-CN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 user registers or logs in and receives a JWT session. They browse the course catalog and enroll (subject to prerequisites and capacity). Once enrolled, they access course content, submit assignments, and take assessments through role-scoped endpoints. Automated and instructor grading feed the student's progress dashboard, where grades, completion, and analytics are tracked in real time until course completion.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28" name="Text 22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1529" name="Text 23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09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3555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10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3556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Key Functionality — Course &amp; Assessment Management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3557" name="Shape 3"/>
          <p:cNvSpPr/>
          <p:nvPr/>
        </p:nvSpPr>
        <p:spPr>
          <a:xfrm>
            <a:off x="457200" y="1417638"/>
            <a:ext cx="4114800" cy="4754562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3558" name="Text 4"/>
          <p:cNvSpPr txBox="1"/>
          <p:nvPr/>
        </p:nvSpPr>
        <p:spPr>
          <a:xfrm>
            <a:off x="731838" y="1646238"/>
            <a:ext cx="3565525" cy="3190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WHAT THE USER CAN DO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838" y="2103438"/>
            <a:ext cx="3565525" cy="19192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fontAlgn="auto">
              <a:spcAft>
                <a:spcPts val="1400"/>
              </a:spcAft>
              <a:buSzPct val="100000"/>
              <a:buChar char="●"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and structure courses with modules, lessons, and multimedia content</a:t>
            </a:r>
            <a:endParaRPr lang="en-US" sz="1250" noProof="1" dirty="0"/>
          </a:p>
          <a:p>
            <a:pPr marL="342900" indent="-342900" fontAlgn="auto">
              <a:spcAft>
                <a:spcPts val="1400"/>
              </a:spcAft>
              <a:buSzPct val="100000"/>
              <a:buChar char="●"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quizzes and assignments with multiple question types and grading rubrics</a:t>
            </a:r>
            <a:endParaRPr lang="en-US" sz="1250" noProof="1" dirty="0"/>
          </a:p>
          <a:p>
            <a:pPr marL="342900" indent="-342900" fontAlgn="auto">
              <a:spcAft>
                <a:spcPts val="1400"/>
              </a:spcAft>
              <a:buSzPct val="100000"/>
              <a:buChar char="●"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grades, submission status, and progress through a unified dashboard</a:t>
            </a:r>
            <a:endParaRPr lang="en-US" sz="1250" noProof="1" dirty="0"/>
          </a:p>
        </p:txBody>
      </p:sp>
      <p:sp>
        <p:nvSpPr>
          <p:cNvPr id="23560" name="Shape 6"/>
          <p:cNvSpPr/>
          <p:nvPr/>
        </p:nvSpPr>
        <p:spPr>
          <a:xfrm>
            <a:off x="731838" y="4160838"/>
            <a:ext cx="3565525" cy="0"/>
          </a:xfrm>
          <a:prstGeom prst="line">
            <a:avLst/>
          </a:prstGeom>
          <a:ln w="12700" cap="flat" cmpd="sng">
            <a:solidFill>
              <a:srgbClr val="D8DCE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61" name="Text 7"/>
          <p:cNvSpPr txBox="1"/>
          <p:nvPr/>
        </p:nvSpPr>
        <p:spPr>
          <a:xfrm>
            <a:off x="731838" y="4297363"/>
            <a:ext cx="3565525" cy="320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HOW IT WORKS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838" y="4708525"/>
            <a:ext cx="3565525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15000"/>
              </a:lnSpc>
              <a:buNone/>
            </a:pPr>
            <a:r>
              <a:rPr lang="en-US" sz="11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Instructors submit course/content and assessment data via JWT-secured REST endpoints. Spring Security enforces RBAC before Spring Boot persists changes through JPA. Students interact with role-scoped endpoints to view content and submit work, with automated and manual grading results feeding the analytics engine.</a:t>
            </a:r>
            <a:endParaRPr lang="en-US" sz="1150" noProof="1" dirty="0"/>
          </a:p>
        </p:txBody>
      </p:sp>
      <p:sp>
        <p:nvSpPr>
          <p:cNvPr id="23563" name="Shape 9"/>
          <p:cNvSpPr/>
          <p:nvPr/>
        </p:nvSpPr>
        <p:spPr>
          <a:xfrm>
            <a:off x="4846638" y="1417638"/>
            <a:ext cx="6884987" cy="4754562"/>
          </a:xfrm>
          <a:prstGeom prst="roundRect">
            <a:avLst>
              <a:gd name="adj" fmla="val 1537"/>
            </a:avLst>
          </a:prstGeom>
          <a:solidFill>
            <a:srgbClr val="FFFFFF"/>
          </a:solidFill>
          <a:ln w="19050" cap="flat" cmpd="sng">
            <a:solidFill>
              <a:srgbClr val="B9C2DD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846638" y="3565525"/>
            <a:ext cx="6884988" cy="366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fontAlgn="auto">
              <a:buNone/>
            </a:pPr>
            <a:r>
              <a:rPr lang="en-US" sz="1400" b="1" kern="0" spc="150" noProof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PLACEHOLDER</a:t>
            </a:r>
            <a:endParaRPr lang="en-US" sz="1400" noProof="1" dirty="0"/>
          </a:p>
        </p:txBody>
      </p:sp>
      <p:sp>
        <p:nvSpPr>
          <p:cNvPr id="23565" name="Text 11"/>
          <p:cNvSpPr txBox="1"/>
          <p:nvPr/>
        </p:nvSpPr>
        <p:spPr>
          <a:xfrm>
            <a:off x="4846638" y="3932238"/>
            <a:ext cx="6884987" cy="3190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Insert screenshot of this functionality here</a:t>
            </a:r>
            <a:endParaRPr lang="en-US" altLang="zh-CN" sz="11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3566" name="Text 12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3567" name="Text 13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10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pic>
        <p:nvPicPr>
          <p:cNvPr id="23568" name="Picture 15" descr="Screenshot 2026-09-16 2043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0" y="1644650"/>
            <a:ext cx="6924675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2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5603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11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5604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Challenges &amp; Solutions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5605" name="Shape 3"/>
          <p:cNvSpPr/>
          <p:nvPr/>
        </p:nvSpPr>
        <p:spPr>
          <a:xfrm>
            <a:off x="457200" y="1417638"/>
            <a:ext cx="11274425" cy="593725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93725" y="1417638"/>
            <a:ext cx="5303838" cy="593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3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1350" noProof="1" dirty="0"/>
          </a:p>
        </p:txBody>
      </p:sp>
      <p:sp>
        <p:nvSpPr>
          <p:cNvPr id="7" name="Text 5"/>
          <p:cNvSpPr txBox="1"/>
          <p:nvPr/>
        </p:nvSpPr>
        <p:spPr>
          <a:xfrm>
            <a:off x="5989638" y="1417638"/>
            <a:ext cx="5576888" cy="593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3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350" noProof="1" dirty="0"/>
          </a:p>
        </p:txBody>
      </p:sp>
      <p:graphicFrame>
        <p:nvGraphicFramePr>
          <p:cNvPr id="25608" name="Table 25607"/>
          <p:cNvGraphicFramePr/>
          <p:nvPr/>
        </p:nvGraphicFramePr>
        <p:xfrm>
          <a:off x="457200" y="2011363"/>
          <a:ext cx="11274425" cy="4024312"/>
        </p:xfrm>
        <a:graphic>
          <a:graphicData uri="http://schemas.openxmlformats.org/drawingml/2006/table">
            <a:tbl>
              <a:tblPr/>
              <a:tblGrid>
                <a:gridCol w="5394325"/>
                <a:gridCol w="5880100"/>
              </a:tblGrid>
              <a:tr h="10064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Enforcing differentiated access across 6 user roles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JWT-based RBAC with function-level permission checks for every operation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0064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Delivering real-time notifications and live interactions at scale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WebSocket connections engineered for under 1-second update latency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0064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Meeting FERPA and WCAG 2.1 compliance for academic data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AES-256 encryption at rest/in transit, full audit trails, accessibility validation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00488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Supporting 2,000+ concurrent users without performance loss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Scalable architecture with load balancing and efficient JPA querying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625" name="Text 6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5626" name="Text 7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11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7651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12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7652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Testing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7653" name="Shape 3"/>
          <p:cNvSpPr/>
          <p:nvPr/>
        </p:nvSpPr>
        <p:spPr>
          <a:xfrm>
            <a:off x="457200" y="1371600"/>
            <a:ext cx="11274425" cy="1050925"/>
          </a:xfrm>
          <a:prstGeom prst="roundRect">
            <a:avLst>
              <a:gd name="adj" fmla="val 6958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7654" name="Shape 4"/>
          <p:cNvSpPr/>
          <p:nvPr/>
        </p:nvSpPr>
        <p:spPr>
          <a:xfrm>
            <a:off x="658813" y="1536700"/>
            <a:ext cx="53975" cy="255588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7655" name="Text 5"/>
          <p:cNvSpPr txBox="1"/>
          <p:nvPr/>
        </p:nvSpPr>
        <p:spPr>
          <a:xfrm>
            <a:off x="804863" y="1490663"/>
            <a:ext cx="3657600" cy="3190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TESTING APPROACH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7656" name="Text 6"/>
          <p:cNvSpPr txBox="1"/>
          <p:nvPr/>
        </p:nvSpPr>
        <p:spPr>
          <a:xfrm>
            <a:off x="804863" y="1809750"/>
            <a:ext cx="10698162" cy="549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>
              <a:lnSpc>
                <a:spcPct val="115000"/>
              </a:lnSpc>
            </a:pPr>
            <a:r>
              <a:rPr lang="en-US" altLang="zh-CN" sz="12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Unit testing with JUnit (backend) and React Testing Library (frontend), integration testing of REST API flows, plus security penetration testing and load testing for 2,000+ concurrent users — targeting a minimum of 85% code coverage.</a:t>
            </a:r>
            <a:endParaRPr lang="en-US" altLang="zh-CN" sz="1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7657" name="Shape 7"/>
          <p:cNvSpPr/>
          <p:nvPr/>
        </p:nvSpPr>
        <p:spPr>
          <a:xfrm>
            <a:off x="457200" y="2697163"/>
            <a:ext cx="11274425" cy="503237"/>
          </a:xfrm>
          <a:prstGeom prst="rect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93725" y="2697163"/>
            <a:ext cx="3109913" cy="503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2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case</a:t>
            </a:r>
            <a:endParaRPr lang="en-US" sz="1250" noProof="1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697163"/>
            <a:ext cx="3108325" cy="503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2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result</a:t>
            </a:r>
            <a:endParaRPr lang="en-US" sz="1250" noProof="1" dirty="0"/>
          </a:p>
        </p:txBody>
      </p:sp>
      <p:sp>
        <p:nvSpPr>
          <p:cNvPr id="12" name="Text 10"/>
          <p:cNvSpPr txBox="1"/>
          <p:nvPr/>
        </p:nvSpPr>
        <p:spPr>
          <a:xfrm>
            <a:off x="7178675" y="2697163"/>
            <a:ext cx="2678113" cy="503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2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result</a:t>
            </a:r>
            <a:endParaRPr lang="en-US" sz="1250" noProof="1" dirty="0"/>
          </a:p>
        </p:txBody>
      </p:sp>
      <p:sp>
        <p:nvSpPr>
          <p:cNvPr id="13" name="Text 11"/>
          <p:cNvSpPr txBox="1"/>
          <p:nvPr/>
        </p:nvSpPr>
        <p:spPr>
          <a:xfrm>
            <a:off x="10039350" y="2697163"/>
            <a:ext cx="1646238" cy="503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buNone/>
            </a:pPr>
            <a:r>
              <a:rPr lang="en-US" sz="1250" b="1" noProof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  <a:endParaRPr lang="en-US" sz="1250" noProof="1" dirty="0"/>
          </a:p>
        </p:txBody>
      </p:sp>
      <p:graphicFrame>
        <p:nvGraphicFramePr>
          <p:cNvPr id="27662" name="Table 27661"/>
          <p:cNvGraphicFramePr/>
          <p:nvPr/>
        </p:nvGraphicFramePr>
        <p:xfrm>
          <a:off x="457200" y="3200400"/>
          <a:ext cx="11274425" cy="1974850"/>
        </p:xfrm>
        <a:graphic>
          <a:graphicData uri="http://schemas.openxmlformats.org/drawingml/2006/table">
            <a:tbl>
              <a:tblPr/>
              <a:tblGrid>
                <a:gridCol w="3292475"/>
                <a:gridCol w="3290888"/>
                <a:gridCol w="2862262"/>
                <a:gridCol w="1828800"/>
              </a:tblGrid>
              <a:tr h="658813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58812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等线" charset="0"/>
                          <a:cs typeface="+mn-cs"/>
                        </a:defRPr>
                      </a:lvl5pPr>
                    </a:lstStyle>
                    <a:p>
                      <a:pPr lvl="0">
                        <a:buSzTx/>
                        <a:buNone/>
                      </a:pPr>
                      <a:r>
                        <a:rPr lang="en-US" altLang="zh-CN" sz="120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</a:rPr>
                        <a:t>[To be Updated]</a:t>
                      </a:r>
                      <a:endParaRPr lang="en-US" altLang="zh-CN" sz="12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 anchorCtr="0">
                    <a:lnL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684" name="Text 12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7685" name="Text 13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12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Shape 0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1E2761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699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13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9700" name="Text 2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Future Enhancements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9701" name="Shape 3"/>
          <p:cNvSpPr/>
          <p:nvPr/>
        </p:nvSpPr>
        <p:spPr>
          <a:xfrm>
            <a:off x="457200" y="1463675"/>
            <a:ext cx="5440363" cy="2286000"/>
          </a:xfrm>
          <a:prstGeom prst="roundRect">
            <a:avLst>
              <a:gd name="adj" fmla="val 3199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702" name="Shape 4"/>
          <p:cNvSpPr/>
          <p:nvPr/>
        </p:nvSpPr>
        <p:spPr>
          <a:xfrm>
            <a:off x="731838" y="1736725"/>
            <a:ext cx="503237" cy="503238"/>
          </a:xfrm>
          <a:prstGeom prst="ellipse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703" name="Text 5"/>
          <p:cNvSpPr txBox="1"/>
          <p:nvPr/>
        </p:nvSpPr>
        <p:spPr>
          <a:xfrm>
            <a:off x="731838" y="1736725"/>
            <a:ext cx="503237" cy="5032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1</a:t>
            </a:r>
            <a:endParaRPr lang="en-US" altLang="zh-CN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9704" name="Text 6"/>
          <p:cNvSpPr txBox="1"/>
          <p:nvPr/>
        </p:nvSpPr>
        <p:spPr>
          <a:xfrm>
            <a:off x="1417638" y="1736725"/>
            <a:ext cx="4251325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Native Mobile Apps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875" y="2378075"/>
            <a:ext cx="4800600" cy="10969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20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iOS and Android native applications — additional features</a:t>
            </a:r>
            <a:endParaRPr lang="en-US" sz="1250" noProof="1" dirty="0"/>
          </a:p>
        </p:txBody>
      </p:sp>
      <p:sp>
        <p:nvSpPr>
          <p:cNvPr id="29706" name="Shape 8"/>
          <p:cNvSpPr/>
          <p:nvPr/>
        </p:nvSpPr>
        <p:spPr>
          <a:xfrm>
            <a:off x="6080125" y="1463675"/>
            <a:ext cx="5441950" cy="2286000"/>
          </a:xfrm>
          <a:prstGeom prst="roundRect">
            <a:avLst>
              <a:gd name="adj" fmla="val 3199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707" name="Shape 9"/>
          <p:cNvSpPr/>
          <p:nvPr/>
        </p:nvSpPr>
        <p:spPr>
          <a:xfrm>
            <a:off x="6354763" y="1736725"/>
            <a:ext cx="503237" cy="503238"/>
          </a:xfrm>
          <a:prstGeom prst="ellipse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708" name="Text 10"/>
          <p:cNvSpPr txBox="1"/>
          <p:nvPr/>
        </p:nvSpPr>
        <p:spPr>
          <a:xfrm>
            <a:off x="6354763" y="1736725"/>
            <a:ext cx="503237" cy="5032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2</a:t>
            </a:r>
            <a:endParaRPr lang="en-US" altLang="zh-CN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9709" name="Text 11"/>
          <p:cNvSpPr txBox="1"/>
          <p:nvPr/>
        </p:nvSpPr>
        <p:spPr>
          <a:xfrm>
            <a:off x="7040563" y="1736725"/>
            <a:ext cx="4252912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AI-Powered Learning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0" y="2378075"/>
            <a:ext cx="4800600" cy="10969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20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recommendations and predictive analytics for personalized learning paths</a:t>
            </a:r>
            <a:endParaRPr lang="en-US" sz="1250" noProof="1" dirty="0"/>
          </a:p>
        </p:txBody>
      </p:sp>
      <p:sp>
        <p:nvSpPr>
          <p:cNvPr id="29711" name="Shape 13"/>
          <p:cNvSpPr/>
          <p:nvPr/>
        </p:nvSpPr>
        <p:spPr>
          <a:xfrm>
            <a:off x="457200" y="3932238"/>
            <a:ext cx="5440363" cy="2286000"/>
          </a:xfrm>
          <a:prstGeom prst="roundRect">
            <a:avLst>
              <a:gd name="adj" fmla="val 3199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712" name="Shape 14"/>
          <p:cNvSpPr/>
          <p:nvPr/>
        </p:nvSpPr>
        <p:spPr>
          <a:xfrm>
            <a:off x="731838" y="4206875"/>
            <a:ext cx="503237" cy="501650"/>
          </a:xfrm>
          <a:prstGeom prst="ellipse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713" name="Text 15"/>
          <p:cNvSpPr txBox="1"/>
          <p:nvPr/>
        </p:nvSpPr>
        <p:spPr>
          <a:xfrm>
            <a:off x="731838" y="4206875"/>
            <a:ext cx="503237" cy="501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</a:t>
            </a:r>
            <a:endParaRPr lang="en-US" altLang="zh-CN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9714" name="Text 16"/>
          <p:cNvSpPr txBox="1"/>
          <p:nvPr/>
        </p:nvSpPr>
        <p:spPr>
          <a:xfrm>
            <a:off x="1417638" y="4206875"/>
            <a:ext cx="4251325" cy="4111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Advanced Security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77875" y="4846638"/>
            <a:ext cx="4800600" cy="10969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20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Blockchain-based credential verification and advanced proctoring — production-level hardening</a:t>
            </a:r>
            <a:endParaRPr lang="en-US" sz="1250" noProof="1" dirty="0"/>
          </a:p>
        </p:txBody>
      </p:sp>
      <p:sp>
        <p:nvSpPr>
          <p:cNvPr id="29716" name="Shape 18"/>
          <p:cNvSpPr/>
          <p:nvPr/>
        </p:nvSpPr>
        <p:spPr>
          <a:xfrm>
            <a:off x="6080125" y="3932238"/>
            <a:ext cx="5441950" cy="2286000"/>
          </a:xfrm>
          <a:prstGeom prst="roundRect">
            <a:avLst>
              <a:gd name="adj" fmla="val 3199"/>
            </a:avLst>
          </a:prstGeom>
          <a:solidFill>
            <a:srgbClr val="F4F6F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717" name="Shape 19"/>
          <p:cNvSpPr/>
          <p:nvPr/>
        </p:nvSpPr>
        <p:spPr>
          <a:xfrm>
            <a:off x="6354763" y="4206875"/>
            <a:ext cx="503237" cy="501650"/>
          </a:xfrm>
          <a:prstGeom prst="ellipse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29718" name="Text 20"/>
          <p:cNvSpPr txBox="1"/>
          <p:nvPr/>
        </p:nvSpPr>
        <p:spPr>
          <a:xfrm>
            <a:off x="6354763" y="4206875"/>
            <a:ext cx="503237" cy="501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</a:t>
            </a:r>
            <a:endParaRPr lang="en-US" altLang="zh-CN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9719" name="Text 21"/>
          <p:cNvSpPr txBox="1"/>
          <p:nvPr/>
        </p:nvSpPr>
        <p:spPr>
          <a:xfrm>
            <a:off x="7040563" y="4206875"/>
            <a:ext cx="4252912" cy="4111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Next-Gen Experiences</a:t>
            </a:r>
            <a:endParaRPr lang="en-US" altLang="zh-CN" sz="16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00800" y="4846638"/>
            <a:ext cx="4800600" cy="10969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fontAlgn="auto">
              <a:lnSpc>
                <a:spcPct val="120000"/>
              </a:lnSpc>
              <a:buNone/>
            </a:pPr>
            <a:r>
              <a:rPr lang="en-US" sz="1250" noProof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VR classrooms and AI teaching assistants for immersive learning</a:t>
            </a:r>
            <a:endParaRPr lang="en-US" sz="1250" noProof="1" dirty="0"/>
          </a:p>
        </p:txBody>
      </p:sp>
      <p:sp>
        <p:nvSpPr>
          <p:cNvPr id="29721" name="Text 23"/>
          <p:cNvSpPr txBox="1"/>
          <p:nvPr/>
        </p:nvSpPr>
        <p:spPr>
          <a:xfrm>
            <a:off x="457200" y="6519863"/>
            <a:ext cx="54864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Project Review · Ashwin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29722" name="Text 24"/>
          <p:cNvSpPr txBox="1"/>
          <p:nvPr/>
        </p:nvSpPr>
        <p:spPr>
          <a:xfrm>
            <a:off x="9902825" y="6519863"/>
            <a:ext cx="1828800" cy="2746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r"/>
            <a:r>
              <a:rPr lang="en-US" altLang="zh-CN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13</a:t>
            </a:r>
            <a:endParaRPr lang="en-US" altLang="zh-CN" sz="1000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63480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31747" name="Text 1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solidFill>
            <a:srgbClr val="F2A93B"/>
          </a:solidFill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14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31748" name="Shape 2"/>
          <p:cNvSpPr/>
          <p:nvPr/>
        </p:nvSpPr>
        <p:spPr>
          <a:xfrm>
            <a:off x="457200" y="457200"/>
            <a:ext cx="566738" cy="566738"/>
          </a:xfrm>
          <a:prstGeom prst="ellipse">
            <a:avLst/>
          </a:prstGeom>
          <a:solidFill>
            <a:srgbClr val="F2A93B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31749" name="Text 3"/>
          <p:cNvSpPr txBox="1"/>
          <p:nvPr/>
        </p:nvSpPr>
        <p:spPr>
          <a:xfrm>
            <a:off x="457200" y="457200"/>
            <a:ext cx="566738" cy="5667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algn="ctr"/>
            <a:r>
              <a:rPr lang="en-US" altLang="zh-CN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14</a:t>
            </a:r>
            <a:endParaRPr lang="en-US" altLang="zh-CN" sz="22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31750" name="Text 4"/>
          <p:cNvSpPr txBox="1"/>
          <p:nvPr/>
        </p:nvSpPr>
        <p:spPr>
          <a:xfrm>
            <a:off x="1206500" y="438150"/>
            <a:ext cx="1024255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Conclusion</a:t>
            </a:r>
            <a:endParaRPr lang="en-US" altLang="zh-CN" sz="30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31751" name="Text 5"/>
          <p:cNvSpPr txBox="1"/>
          <p:nvPr/>
        </p:nvSpPr>
        <p:spPr>
          <a:xfrm>
            <a:off x="549275" y="1554163"/>
            <a:ext cx="5119688" cy="320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3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SUMMARY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9275" y="1920875"/>
            <a:ext cx="5119688" cy="2193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fontAlgn="auto">
              <a:lnSpc>
                <a:spcPct val="125000"/>
              </a:lnSpc>
              <a:buNone/>
            </a:pPr>
            <a:r>
              <a:rPr lang="en-US" sz="1350" noProof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LMS Lite is a secure, standards-compliant Spring Boot and React platform that unifies course delivery, assessment, and learning analytics for educational institutions at scale — replacing fragmented tools with one auditable, role-based system.</a:t>
            </a:r>
            <a:endParaRPr lang="en-US" sz="1350" noProof="1" dirty="0"/>
          </a:p>
        </p:txBody>
      </p:sp>
      <p:sp>
        <p:nvSpPr>
          <p:cNvPr id="31753" name="Shape 7"/>
          <p:cNvSpPr/>
          <p:nvPr/>
        </p:nvSpPr>
        <p:spPr>
          <a:xfrm>
            <a:off x="6218238" y="1554163"/>
            <a:ext cx="5486400" cy="4481512"/>
          </a:xfrm>
          <a:prstGeom prst="roundRect">
            <a:avLst>
              <a:gd name="adj" fmla="val 1634"/>
            </a:avLst>
          </a:prstGeom>
          <a:solidFill>
            <a:srgbClr val="263480"/>
          </a:solidFill>
          <a:ln w="9525">
            <a:noFill/>
          </a:ln>
        </p:spPr>
        <p:txBody>
          <a:bodyPr anchor="t" anchorCtr="0"/>
          <a:p>
            <a:endParaRPr lang="en-US" altLang="zh-CN">
              <a:latin typeface="Calibri" panose="020F0502020204030204" pitchFamily="34" charset="0"/>
              <a:ea typeface="+mn-ea"/>
            </a:endParaRPr>
          </a:p>
        </p:txBody>
      </p:sp>
      <p:sp>
        <p:nvSpPr>
          <p:cNvPr id="31754" name="Text 8"/>
          <p:cNvSpPr txBox="1"/>
          <p:nvPr/>
        </p:nvSpPr>
        <p:spPr>
          <a:xfrm>
            <a:off x="6492875" y="1782763"/>
            <a:ext cx="4937125" cy="320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sz="13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KEY ACHIEVEMENTS</a:t>
            </a:r>
            <a:endParaRPr lang="en-US" altLang="zh-CN" sz="13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31755" name="Text 9"/>
          <p:cNvSpPr txBox="1"/>
          <p:nvPr/>
        </p:nvSpPr>
        <p:spPr>
          <a:xfrm>
            <a:off x="6492875" y="2239963"/>
            <a:ext cx="4937125" cy="35671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marL="342900" indent="-342900">
              <a:spcAft>
                <a:spcPts val="1800"/>
              </a:spcAft>
              <a:buChar char="●"/>
            </a:pPr>
            <a:r>
              <a:rPr lang="en-US" altLang="zh-C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Designed a role-based access control system spanning 6 distinct user roles</a:t>
            </a:r>
            <a:endParaRPr lang="en-US" altLang="zh-CN" sz="14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1800"/>
              </a:spcAft>
              <a:buChar char="●"/>
            </a:pPr>
            <a:r>
              <a:rPr lang="en-US" altLang="zh-C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Architected a FERPA- and WCAG 2.1-compliant secure REST API with JWT authentication</a:t>
            </a:r>
            <a:endParaRPr lang="en-US" altLang="zh-CN" sz="1400" dirty="0">
              <a:latin typeface="Calibri" panose="020F0502020204030204" pitchFamily="34" charset="0"/>
              <a:ea typeface="+mn-ea"/>
              <a:cs typeface="等线" charset="0"/>
            </a:endParaRPr>
          </a:p>
          <a:p>
            <a:pPr marL="342900" indent="-342900">
              <a:spcAft>
                <a:spcPts val="1800"/>
              </a:spcAft>
              <a:buChar char="●"/>
            </a:pPr>
            <a:r>
              <a:rPr lang="en-US" altLang="zh-CN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Defined a scalable data model supporting 50,000+ users and 10,000+ courses</a:t>
            </a:r>
            <a:endParaRPr lang="en-US" altLang="zh-CN" sz="1400" dirty="0">
              <a:latin typeface="Calibri" panose="020F0502020204030204" pitchFamily="34" charset="0"/>
              <a:ea typeface="等线" charset="0"/>
            </a:endParaRPr>
          </a:p>
        </p:txBody>
      </p:sp>
      <p:sp>
        <p:nvSpPr>
          <p:cNvPr id="31756" name="Text 10"/>
          <p:cNvSpPr txBox="1"/>
          <p:nvPr/>
        </p:nvSpPr>
        <p:spPr>
          <a:xfrm>
            <a:off x="549275" y="6035675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r>
              <a:rPr lang="en-US" altLang="zh-CN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Thank you </a:t>
            </a:r>
            <a:endParaRPr lang="en-US" altLang="zh-CN" dirty="0">
              <a:latin typeface="Calibri" panose="020F0502020204030204" pitchFamily="34" charset="0"/>
              <a:ea typeface="等线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8942</Words>
  <Application>WPS Presentation</Application>
  <PresentationFormat>On-screen Show (16:9)</PresentationFormat>
  <Paragraphs>435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等线</vt:lpstr>
      <vt:lpstr>Calibri Light</vt:lpstr>
      <vt:lpstr>等线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Ashwin Krishna</cp:lastModifiedBy>
  <cp:revision>4</cp:revision>
  <dcterms:created xsi:type="dcterms:W3CDTF">2026-09-16T19:54:00Z</dcterms:created>
  <dcterms:modified xsi:type="dcterms:W3CDTF">2026-09-21T07:48:32Z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D5D78D5A2C0A445284780F996531FF96_13</vt:lpwstr>
  </property>
</Properties>
</file>